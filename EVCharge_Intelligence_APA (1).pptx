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Avg demand by traffic level (kWh)</a:t>
            </a:r>
          </a:p>
        </c:rich>
      </c:tx>
      <c:layout/>
      <c:overlay val="0"/>
    </c:title>
    <c:autoTitleDeleted val="0"/>
    <c:plotArea>
      <c:layout/>
      <c:barChart>
        <c:barDir val="col"/>
        <c:grouping val="clustered"/>
        <c:varyColors val="0"/>
        <c:ser>
          <c:idx val="0"/>
          <c:order val="0"/>
          <c:tx>
            <c:strRef>
              <c:f>Sheet1!$B$1</c:f>
              <c:strCache>
                <c:ptCount val="1"/>
                <c:pt idx="0">
                  <c:v>Avg demand by traffic level (kWh)</c:v>
                </c:pt>
              </c:strCache>
            </c:strRef>
          </c:tx>
          <c:spPr>
            <a:solidFill>
              <a:srgbClr val="2DD4BF"/>
            </a:solidFill>
            <a:effectLst/>
          </c:spPr>
          <c:invertIfNegative val="0"/>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18.83</c:v>
                </c:pt>
                <c:pt idx="1">
                  <c:v>21.02</c:v>
                </c:pt>
                <c:pt idx="2">
                  <c:v>24.16</c:v>
                </c:pt>
              </c:numCache>
            </c:numRef>
          </c:val>
        </c:ser>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C2F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Avg demand by hour of day (kWh)</a:t>
            </a:r>
          </a:p>
        </c:rich>
      </c:tx>
      <c:layout/>
      <c:overlay val="0"/>
    </c:title>
    <c:autoTitleDeleted val="0"/>
    <c:plotArea>
      <c:layout/>
      <c:lineChart>
        <c:varyColors val="0"/>
        <c:ser>
          <c:idx val="0"/>
          <c:order val="0"/>
          <c:tx>
            <c:strRef>
              <c:f>Sheet1!$B$1</c:f>
              <c:strCache>
                <c:ptCount val="1"/>
                <c:pt idx="0">
                  <c:v>Avg demand</c:v>
                </c:pt>
              </c:strCache>
            </c:strRef>
          </c:tx>
          <c:spPr>
            <a:solidFill>
              <a:srgbClr val="4F8CFF"/>
            </a:solidFill>
            <a:ln w="25400" cap="flat">
              <a:solidFill>
                <a:srgbClr val="4F8CFF"/>
              </a:solidFill>
              <a:prstDash val="solid"/>
              <a:round/>
            </a:ln>
            <a:effectLst/>
          </c:spPr>
          <c:invertIfNegative val="0"/>
          <c:dLbls>
            <c:numFmt formatCode="#,##0" sourceLinked="0"/>
            <c:txPr>
              <a:bodyPr/>
              <a:lstStyle/>
              <a:p>
                <a:pPr>
                  <a:defRPr b="0" i="0" strike="noStrike" sz="1000" u="none">
                    <a:solidFill>
                      <a:srgbClr val="E9F2FF"/>
                    </a:solidFill>
                    <a:latin typeface="Segoe UI"/>
                  </a:defRPr>
                </a:pPr>
              </a:p>
            </c:txPr>
            <c:showLegendKey val="0"/>
            <c:showVal val="0"/>
            <c:showCatName val="0"/>
            <c:showSerName val="0"/>
            <c:showPercent val="0"/>
            <c:showBubbleSize val="0"/>
            <c:showLeaderLines val="0"/>
          </c:dLbls>
          <c:marker>
            <c:symbol val="circle"/>
            <c:size val="5"/>
            <c:spPr>
              <a:solidFill>
                <a:srgbClr val="4F8CFF"/>
              </a:solidFill>
              <a:ln w="9525" cap="flat">
                <a:solidFill>
                  <a:srgbClr val="4F8CFF"/>
                </a:solidFill>
                <a:prstDash val="solid"/>
                <a:round/>
              </a:ln>
              <a:effectLst/>
            </c:spPr>
          </c:marker>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18.75</c:v>
                </c:pt>
                <c:pt idx="1">
                  <c:v>18.65</c:v>
                </c:pt>
                <c:pt idx="2">
                  <c:v>18.88</c:v>
                </c:pt>
                <c:pt idx="3">
                  <c:v>19.09</c:v>
                </c:pt>
                <c:pt idx="4">
                  <c:v>19.33</c:v>
                </c:pt>
                <c:pt idx="5">
                  <c:v>18.46</c:v>
                </c:pt>
                <c:pt idx="6">
                  <c:v>18.9</c:v>
                </c:pt>
                <c:pt idx="7">
                  <c:v>24.86</c:v>
                </c:pt>
                <c:pt idx="8">
                  <c:v>24.85</c:v>
                </c:pt>
                <c:pt idx="9">
                  <c:v>24.66</c:v>
                </c:pt>
                <c:pt idx="10">
                  <c:v>19.67</c:v>
                </c:pt>
                <c:pt idx="11">
                  <c:v>18.26</c:v>
                </c:pt>
                <c:pt idx="12">
                  <c:v>19.16</c:v>
                </c:pt>
                <c:pt idx="13">
                  <c:v>19.54</c:v>
                </c:pt>
                <c:pt idx="14">
                  <c:v>19.1</c:v>
                </c:pt>
                <c:pt idx="15">
                  <c:v>18.82</c:v>
                </c:pt>
                <c:pt idx="16">
                  <c:v>18.96</c:v>
                </c:pt>
                <c:pt idx="17">
                  <c:v>26.86</c:v>
                </c:pt>
                <c:pt idx="18">
                  <c:v>27.08</c:v>
                </c:pt>
                <c:pt idx="19">
                  <c:v>26.74</c:v>
                </c:pt>
                <c:pt idx="20">
                  <c:v>27.59</c:v>
                </c:pt>
                <c:pt idx="21">
                  <c:v>19.49</c:v>
                </c:pt>
                <c:pt idx="22">
                  <c:v>18.79</c:v>
                </c:pt>
                <c:pt idx="23">
                  <c:v>18.79</c:v>
                </c:pt>
              </c:numCache>
            </c:numRef>
          </c:val>
          <c:smooth val="0"/>
        </c:ser>
        <c:dLbls>
          <c:numFmt formatCode="#,##0" sourceLinked="0"/>
          <c:txPr>
            <a:bodyPr/>
            <a:lstStyle/>
            <a:p>
              <a:pPr>
                <a:defRPr b="0" i="0" strike="noStrike" sz="1000" u="none">
                  <a:solidFill>
                    <a:srgbClr val="E9F2FF"/>
                  </a:solidFill>
                  <a:latin typeface="Segoe U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min val="16"/>
        </c:scaling>
        <c:delete val="0"/>
        <c:axPos val="l"/>
        <c:majorGridlines>
          <c:spPr>
            <a:ln w="6350" cap="flat">
              <a:solidFill>
                <a:srgbClr val="1C2F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Avg demand by weather (kWh)</a:t>
            </a:r>
          </a:p>
        </c:rich>
      </c:tx>
      <c:layout/>
      <c:overlay val="0"/>
    </c:title>
    <c:autoTitleDeleted val="0"/>
    <c:plotArea>
      <c:layout/>
      <c:barChart>
        <c:barDir val="col"/>
        <c:grouping val="clustered"/>
        <c:varyColors val="0"/>
        <c:ser>
          <c:idx val="0"/>
          <c:order val="0"/>
          <c:tx>
            <c:strRef>
              <c:f>Sheet1!$B$1</c:f>
              <c:strCache>
                <c:ptCount val="1"/>
                <c:pt idx="0">
                  <c:v>Avg demand by weather (kWh)</c:v>
                </c:pt>
              </c:strCache>
            </c:strRef>
          </c:tx>
          <c:spPr>
            <a:solidFill>
              <a:srgbClr val="22C55E"/>
            </a:solidFill>
            <a:effectLst/>
          </c:spPr>
          <c:invertIfNegative val="0"/>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Sheet1!$A$2:$A$6</c:f>
              <c:multiLvlStrCache>
                <c:ptCount val="5"/>
                <c:lvl>
                  <c:pt idx="0">
                    <c:v>Rainy</c:v>
                  </c:pt>
                  <c:pt idx="1">
                    <c:v>Fog</c:v>
                  </c:pt>
                  <c:pt idx="2">
                    <c:v>Stormy</c:v>
                  </c:pt>
                  <c:pt idx="3">
                    <c:v>Cloudy</c:v>
                  </c:pt>
                  <c:pt idx="4">
                    <c:v>Sunny</c:v>
                  </c:pt>
                </c:lvl>
              </c:multiLvlStrCache>
            </c:multiLvlStrRef>
          </c:cat>
          <c:val>
            <c:numRef>
              <c:f>Sheet1!$B$2:$B$6</c:f>
              <c:numCache>
                <c:formatCode>General</c:formatCode>
                <c:ptCount val="5"/>
                <c:pt idx="0">
                  <c:v>21.93</c:v>
                </c:pt>
                <c:pt idx="1">
                  <c:v>21.77</c:v>
                </c:pt>
                <c:pt idx="2">
                  <c:v>21.59</c:v>
                </c:pt>
                <c:pt idx="3">
                  <c:v>20.69</c:v>
                </c:pt>
                <c:pt idx="4">
                  <c:v>20.63</c:v>
                </c:pt>
              </c:numCache>
            </c:numRef>
          </c:val>
        </c:ser>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1C2F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Predicted High-congestion records by city</a:t>
            </a:r>
          </a:p>
        </c:rich>
      </c:tx>
      <c:layout/>
      <c:overlay val="0"/>
    </c:title>
    <c:autoTitleDeleted val="0"/>
    <c:plotArea>
      <c:layout/>
      <c:barChart>
        <c:barDir val="col"/>
        <c:grouping val="clustered"/>
        <c:varyColors val="0"/>
        <c:ser>
          <c:idx val="0"/>
          <c:order val="0"/>
          <c:tx>
            <c:strRef>
              <c:f>Sheet1!$B$1</c:f>
              <c:strCache>
                <c:ptCount val="1"/>
                <c:pt idx="0">
                  <c:v>Predicted High-congestion records by city</c:v>
                </c:pt>
              </c:strCache>
            </c:strRef>
          </c:tx>
          <c:spPr>
            <a:solidFill>
              <a:srgbClr val="EF4444"/>
            </a:solidFill>
            <a:effectLst/>
          </c:spPr>
          <c:invertIfNegative val="0"/>
          <c:dLbls>
            <c:numFmt formatCode="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Sheet1!$A$2:$A$7</c:f>
              <c:multiLvlStrCache>
                <c:ptCount val="6"/>
                <c:lvl>
                  <c:pt idx="0">
                    <c:v>Mumbai</c:v>
                  </c:pt>
                  <c:pt idx="1">
                    <c:v>Delhi</c:v>
                  </c:pt>
                  <c:pt idx="2">
                    <c:v>Bengaluru</c:v>
                  </c:pt>
                  <c:pt idx="3">
                    <c:v>Hyderabad</c:v>
                  </c:pt>
                  <c:pt idx="4">
                    <c:v>Pune</c:v>
                  </c:pt>
                  <c:pt idx="5">
                    <c:v>Chennai</c:v>
                  </c:pt>
                </c:lvl>
              </c:multiLvlStrCache>
            </c:multiLvlStrRef>
          </c:cat>
          <c:val>
            <c:numRef>
              <c:f>Sheet1!$B$2:$B$7</c:f>
              <c:numCache>
                <c:formatCode>General</c:formatCode>
                <c:ptCount val="6"/>
                <c:pt idx="0">
                  <c:v>518</c:v>
                </c:pt>
                <c:pt idx="1">
                  <c:v>503</c:v>
                </c:pt>
                <c:pt idx="2">
                  <c:v>466</c:v>
                </c:pt>
                <c:pt idx="3">
                  <c:v>427</c:v>
                </c:pt>
                <c:pt idx="4">
                  <c:v>406</c:v>
                </c:pt>
                <c:pt idx="5">
                  <c:v>373</c:v>
                </c:pt>
              </c:numCache>
            </c:numRef>
          </c:val>
        </c:ser>
        <c:dLbls>
          <c:numFmt formatCode="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C2F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Avg customer rating by congestion level</a:t>
            </a:r>
          </a:p>
        </c:rich>
      </c:tx>
      <c:layout/>
      <c:overlay val="0"/>
    </c:title>
    <c:autoTitleDeleted val="0"/>
    <c:plotArea>
      <c:layout/>
      <c:barChart>
        <c:barDir val="col"/>
        <c:grouping val="clustered"/>
        <c:varyColors val="0"/>
        <c:ser>
          <c:idx val="0"/>
          <c:order val="0"/>
          <c:tx>
            <c:strRef>
              <c:f>Sheet1!$B$1</c:f>
              <c:strCache>
                <c:ptCount val="1"/>
                <c:pt idx="0">
                  <c:v>Avg customer rating by congestion level</c:v>
                </c:pt>
              </c:strCache>
            </c:strRef>
          </c:tx>
          <c:spPr>
            <a:solidFill>
              <a:srgbClr val="2DD4BF"/>
            </a:solidFill>
            <a:effectLst/>
          </c:spPr>
          <c:invertIfNegative val="0"/>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4.58</c:v>
                </c:pt>
                <c:pt idx="1">
                  <c:v>4.23</c:v>
                </c:pt>
                <c:pt idx="2">
                  <c:v>3.1</c:v>
                </c:pt>
              </c:numCache>
            </c:numRef>
          </c:val>
        </c:ser>
        <c:dLbls>
          <c:numFmt formatCode="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1C2F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Charging Demand model: top 6 features</a:t>
            </a:r>
          </a:p>
        </c:rich>
      </c:tx>
      <c:layout/>
      <c:overlay val="0"/>
    </c:title>
    <c:autoTitleDeleted val="0"/>
    <c:plotArea>
      <c:layout/>
      <c:barChart>
        <c:barDir val="bar"/>
        <c:grouping val="clustered"/>
        <c:varyColors val="0"/>
        <c:ser>
          <c:idx val="0"/>
          <c:order val="0"/>
          <c:tx>
            <c:strRef>
              <c:f>Sheet1!$B$1</c:f>
              <c:strCache>
                <c:ptCount val="1"/>
                <c:pt idx="0">
                  <c:v>Charging Demand model: top 6 features</c:v>
                </c:pt>
              </c:strCache>
            </c:strRef>
          </c:tx>
          <c:spPr>
            <a:solidFill>
              <a:srgbClr val="2DD4BF"/>
            </a:solidFill>
            <a:effectLst/>
          </c:spPr>
          <c:invertIfNegative val="0"/>
          <c:dLbls>
            <c:numFmt formatCode="0.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Sheet1!$A$2:$A$7</c:f>
              <c:multiLvlStrCache>
                <c:ptCount val="6"/>
                <c:lvl>
                  <c:pt idx="0">
                    <c:v>Temperature_C</c:v>
                  </c:pt>
                  <c:pt idx="1">
                    <c:v>Electricity_Price</c:v>
                  </c:pt>
                  <c:pt idx="2">
                    <c:v>Traffic_Level</c:v>
                  </c:pt>
                  <c:pt idx="3">
                    <c:v>Hour</c:v>
                  </c:pt>
                  <c:pt idx="4">
                    <c:v>Connector_Type</c:v>
                  </c:pt>
                  <c:pt idx="5">
                    <c:v>Vehicle_Type</c:v>
                  </c:pt>
                </c:lvl>
              </c:multiLvlStrCache>
            </c:multiLvlStrRef>
          </c:cat>
          <c:val>
            <c:numRef>
              <c:f>Sheet1!$B$2:$B$7</c:f>
              <c:numCache>
                <c:formatCode>General</c:formatCode>
                <c:ptCount val="6"/>
                <c:pt idx="0">
                  <c:v>0.0317</c:v>
                </c:pt>
                <c:pt idx="1">
                  <c:v>0.05</c:v>
                </c:pt>
                <c:pt idx="2">
                  <c:v>0.0569</c:v>
                </c:pt>
                <c:pt idx="3">
                  <c:v>0.1043</c:v>
                </c:pt>
                <c:pt idx="4">
                  <c:v>0.3164</c:v>
                </c:pt>
                <c:pt idx="5">
                  <c:v>0.3505</c:v>
                </c:pt>
              </c:numCache>
            </c:numRef>
          </c:val>
        </c:ser>
        <c:dLbls>
          <c:numFmt formatCode="0.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max val="0.438125"/>
        </c:scaling>
        <c:delete val="1"/>
        <c:axPos val="b"/>
        <c:majorGridlines>
          <c:spPr>
            <a:ln w="6350" cap="flat">
              <a:solidFill>
                <a:srgbClr val="1C2F5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F2FF"/>
                </a:solidFill>
                <a:latin typeface="Segoe UI"/>
              </a:defRPr>
            </a:pPr>
            <a:r>
              <a:rPr sz="1200" b="0" i="0" u="none" strike="noStrike">
                <a:solidFill>
                  <a:srgbClr val="E9F2FF"/>
                </a:solidFill>
                <a:latin typeface="Segoe UI"/>
              </a:rPr>
              <a:t>Station Congestion model: top 6 features</a:t>
            </a:r>
          </a:p>
        </c:rich>
      </c:tx>
      <c:layout/>
      <c:overlay val="0"/>
    </c:title>
    <c:autoTitleDeleted val="0"/>
    <c:plotArea>
      <c:layout/>
      <c:barChart>
        <c:barDir val="bar"/>
        <c:grouping val="clustered"/>
        <c:varyColors val="0"/>
        <c:ser>
          <c:idx val="0"/>
          <c:order val="0"/>
          <c:tx>
            <c:strRef>
              <c:f>Sheet1!$B$1</c:f>
              <c:strCache>
                <c:ptCount val="1"/>
                <c:pt idx="0">
                  <c:v>Station Congestion model: top 6 features</c:v>
                </c:pt>
              </c:strCache>
            </c:strRef>
          </c:tx>
          <c:spPr>
            <a:solidFill>
              <a:srgbClr val="F59E0B"/>
            </a:solidFill>
            <a:effectLst/>
          </c:spPr>
          <c:invertIfNegative val="0"/>
          <c:dLbls>
            <c:numFmt formatCode="0.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cat>
            <c:multiLvlStrRef>
              <c:f>Sheet1!$A$2:$A$7</c:f>
              <c:multiLvlStrCache>
                <c:ptCount val="6"/>
                <c:lvl>
                  <c:pt idx="0">
                    <c:v>Station_ID</c:v>
                  </c:pt>
                  <c:pt idx="1">
                    <c:v>Electricity_Price</c:v>
                  </c:pt>
                  <c:pt idx="2">
                    <c:v>Temperature_C</c:v>
                  </c:pt>
                  <c:pt idx="3">
                    <c:v>Hour</c:v>
                  </c:pt>
                  <c:pt idx="4">
                    <c:v>Traffic_Level</c:v>
                  </c:pt>
                  <c:pt idx="5">
                    <c:v>Predicted_Demand_kWh</c:v>
                  </c:pt>
                </c:lvl>
              </c:multiLvlStrCache>
            </c:multiLvlStrRef>
          </c:cat>
          <c:val>
            <c:numRef>
              <c:f>Sheet1!$B$2:$B$7</c:f>
              <c:numCache>
                <c:formatCode>General</c:formatCode>
                <c:ptCount val="6"/>
                <c:pt idx="0">
                  <c:v>0.0598</c:v>
                </c:pt>
                <c:pt idx="1">
                  <c:v>0.0857</c:v>
                </c:pt>
                <c:pt idx="2">
                  <c:v>0.0883</c:v>
                </c:pt>
                <c:pt idx="3">
                  <c:v>0.0894</c:v>
                </c:pt>
                <c:pt idx="4">
                  <c:v>0.2168</c:v>
                </c:pt>
                <c:pt idx="5">
                  <c:v>0.23</c:v>
                </c:pt>
              </c:numCache>
            </c:numRef>
          </c:val>
        </c:ser>
        <c:dLbls>
          <c:numFmt formatCode="0.000" sourceLinked="0"/>
          <c:txPr>
            <a:bodyPr/>
            <a:lstStyle/>
            <a:p>
              <a:pPr>
                <a:defRPr b="0" i="0" strike="noStrike" sz="1000" u="none">
                  <a:solidFill>
                    <a:srgbClr val="E9F2FF"/>
                  </a:solidFill>
                  <a:latin typeface="Segoe U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2"/>
        <c:crosses val="autoZero"/>
        <c:auto val="1"/>
        <c:lblAlgn val="ctr"/>
        <c:noMultiLvlLbl val="1"/>
      </c:catAx>
      <c:valAx>
        <c:axId val="2094734552"/>
        <c:scaling>
          <c:orientation val="minMax"/>
          <c:max val="0.28750000000000003"/>
        </c:scaling>
        <c:delete val="1"/>
        <c:axPos val="b"/>
        <c:majorGridlines>
          <c:spPr>
            <a:ln w="6350" cap="flat">
              <a:solidFill>
                <a:srgbClr val="1C2F5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FA4C6"/>
                </a:solidFill>
                <a:latin typeface="Segoe U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B. Praneeth Reddy, Syed Afroz and Chaitanya Turangi from AI &amp; Data Science, CBIT. Our project is EVCharge Intelligence, a predictive analytics framework for EV charging demand, congestion and customer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 charging demand changes with time, traffic and weather, so stations can get congested and customer experience varies. We set five objectives, from predicting demand and congestion to building an interactive Power BI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12,000 charging records and 15 columns across 6 cities and 24 stations, with no missing values or duplicates. The model output adds predicted demand, demand risk and predicted congestion for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checked for duplicates and missing values, parsed the timestamp and filled gaps with median or mode. Then we created time features and a congestion label from occupancy and queue length, and encoded categories with LabelEncoder.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is clearly higher under high traffic, and it jumps in the morning and evening hours, with the highest average at 20:00. Weather differences are small. Mumbai and Delhi have the most predicted high-congestion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Random Forest Regressor to predict charging demand and a Random Forest Classifier to predict congestion. The predicted demand is also fed to the classifier as an input. Both used an 80/20 split with 9,600 training and 2,400 test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demand model has an MAE of 2.52 kWh, RMSE of 3.34 kWh and R squared of 0.847. The congestion classifier reaches about 68 percent accuracy on the test set. The 93.6 percent in the dashboard is measured on all 12,000 scored records, including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feedback is positive, and average rating falls from 4.58 at low congestion to 3.10 at high congestion. On the right, demand relies mostly on vehicle and connector type, while congestion relies on predicted demand and traffic. These show association,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interactive dashboard built on the prediction output. It has KPI cards, demand and congestion charts, a customer sentiment view, station comparison and slicers for city, traffic, risk, station and date. Everything updates when a filter is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insight is read directly from the dashboard. Demand rises with traffic and at peak hours, which supports capacity planning. Some cities have more high-congestion records, ratings drop when congestion is high, and station demand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demand prediction, congestion prediction and feedback analysis, and integrated everything into Power BI. Future work includes real-time IoT data, live traffic and weather, alerts, deep learning forecasting and web or mobile deployment.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0D1A2E"/>
          </a:solidFill>
          <a:ln w="12700">
            <a:solidFill>
              <a:srgbClr val="1C2F50"/>
            </a:solidFill>
            <a:prstDash val="solid"/>
          </a:ln>
        </p:spPr>
      </p:sp>
      <p:sp>
        <p:nvSpPr>
          <p:cNvPr id="3" name="Shape 1"/>
          <p:cNvSpPr/>
          <p:nvPr/>
        </p:nvSpPr>
        <p:spPr>
          <a:xfrm>
            <a:off x="8412480" y="1371600"/>
            <a:ext cx="3200400" cy="3200400"/>
          </a:xfrm>
          <a:prstGeom prst="ellipse">
            <a:avLst/>
          </a:prstGeom>
          <a:solidFill>
            <a:srgbClr val="060C18"/>
          </a:solidFill>
          <a:ln w="38100">
            <a:solidFill>
              <a:srgbClr val="2DD4BF"/>
            </a:solidFill>
            <a:prstDash val="solid"/>
          </a:ln>
        </p:spPr>
      </p:sp>
      <p:sp>
        <p:nvSpPr>
          <p:cNvPr id="4" name="Shape 2"/>
          <p:cNvSpPr/>
          <p:nvPr/>
        </p:nvSpPr>
        <p:spPr>
          <a:xfrm>
            <a:off x="8778240" y="1737360"/>
            <a:ext cx="2468880" cy="2468880"/>
          </a:xfrm>
          <a:prstGeom prst="ellipse">
            <a:avLst/>
          </a:prstGeom>
          <a:solidFill>
            <a:srgbClr val="060C18"/>
          </a:solidFill>
          <a:ln w="25400">
            <a:solidFill>
              <a:srgbClr val="4F8CFF"/>
            </a:solidFill>
            <a:prstDash val="solid"/>
          </a:ln>
        </p:spPr>
      </p:sp>
      <p:pic>
        <p:nvPicPr>
          <p:cNvPr id="5" name="Image 0" descr="preencoded.png">    </p:cNvPr>
          <p:cNvPicPr>
            <a:picLocks noChangeAspect="1"/>
          </p:cNvPicPr>
          <p:nvPr/>
        </p:nvPicPr>
        <p:blipFill>
          <a:blip r:embed="rId1"/>
          <a:stretch>
            <a:fillRect/>
          </a:stretch>
        </p:blipFill>
        <p:spPr>
          <a:xfrm>
            <a:off x="9418320" y="2331720"/>
            <a:ext cx="1188720" cy="1188720"/>
          </a:xfrm>
          <a:prstGeom prst="rect">
            <a:avLst/>
          </a:prstGeom>
        </p:spPr>
      </p:pic>
      <p:pic>
        <p:nvPicPr>
          <p:cNvPr id="6" name="Image 1" descr="preencoded.png">    </p:cNvPr>
          <p:cNvPicPr>
            <a:picLocks noChangeAspect="1"/>
          </p:cNvPicPr>
          <p:nvPr/>
        </p:nvPicPr>
        <p:blipFill>
          <a:blip r:embed="rId2"/>
          <a:stretch>
            <a:fillRect/>
          </a:stretch>
        </p:blipFill>
        <p:spPr>
          <a:xfrm>
            <a:off x="8686800" y="4937760"/>
            <a:ext cx="548640" cy="548640"/>
          </a:xfrm>
          <a:prstGeom prst="rect">
            <a:avLst/>
          </a:prstGeom>
        </p:spPr>
      </p:pic>
      <p:pic>
        <p:nvPicPr>
          <p:cNvPr id="7" name="Image 2" descr="preencoded.png">    </p:cNvPr>
          <p:cNvPicPr>
            <a:picLocks noChangeAspect="1"/>
          </p:cNvPicPr>
          <p:nvPr/>
        </p:nvPicPr>
        <p:blipFill>
          <a:blip r:embed="rId3"/>
          <a:stretch>
            <a:fillRect/>
          </a:stretch>
        </p:blipFill>
        <p:spPr>
          <a:xfrm>
            <a:off x="9692640" y="4937760"/>
            <a:ext cx="548640" cy="548640"/>
          </a:xfrm>
          <a:prstGeom prst="rect">
            <a:avLst/>
          </a:prstGeom>
        </p:spPr>
      </p:pic>
      <p:pic>
        <p:nvPicPr>
          <p:cNvPr id="8" name="Image 3" descr="preencoded.png">    </p:cNvPr>
          <p:cNvPicPr>
            <a:picLocks noChangeAspect="1"/>
          </p:cNvPicPr>
          <p:nvPr/>
        </p:nvPicPr>
        <p:blipFill>
          <a:blip r:embed="rId4"/>
          <a:stretch>
            <a:fillRect/>
          </a:stretch>
        </p:blipFill>
        <p:spPr>
          <a:xfrm>
            <a:off x="10698480" y="4937760"/>
            <a:ext cx="548640" cy="548640"/>
          </a:xfrm>
          <a:prstGeom prst="rect">
            <a:avLst/>
          </a:prstGeom>
        </p:spPr>
      </p:pic>
      <p:sp>
        <p:nvSpPr>
          <p:cNvPr id="9" name="Text 3"/>
          <p:cNvSpPr txBox="1"/>
          <p:nvPr/>
        </p:nvSpPr>
        <p:spPr>
          <a:xfrm>
            <a:off x="8229600" y="5760720"/>
            <a:ext cx="3657600" cy="274320"/>
          </a:xfrm>
          <a:prstGeom prst="rect">
            <a:avLst/>
          </a:prstGeom>
          <a:noFill/>
          <a:ln/>
        </p:spPr>
        <p:txBody>
          <a:bodyPr wrap="square" lIns="0" tIns="0" rIns="0" bIns="0" rtlCol="0" anchor="ctr"/>
          <a:lstStyle/>
          <a:p>
            <a:pPr algn="ctr" indent="0" marL="0">
              <a:buNone/>
            </a:pPr>
            <a:r>
              <a:rPr lang="en-US" sz="1000" spc="200" kern="0" dirty="0">
                <a:solidFill>
                  <a:srgbClr val="8FA4C6"/>
                </a:solidFill>
                <a:latin typeface="Segoe UI" pitchFamily="34" charset="0"/>
                <a:ea typeface="Segoe UI" pitchFamily="34" charset="-122"/>
                <a:cs typeface="Segoe UI" pitchFamily="34" charset="-120"/>
              </a:rPr>
              <a:t>SMART MOBILITY  •  PREDICTIVE ANALYTICS</a:t>
            </a:r>
            <a:endParaRPr lang="en-US" sz="1000" dirty="0"/>
          </a:p>
        </p:txBody>
      </p:sp>
      <p:sp>
        <p:nvSpPr>
          <p:cNvPr id="10" name="Text 4"/>
          <p:cNvSpPr txBox="1"/>
          <p:nvPr/>
        </p:nvSpPr>
        <p:spPr>
          <a:xfrm>
            <a:off x="548640" y="548640"/>
            <a:ext cx="6949440" cy="274320"/>
          </a:xfrm>
          <a:prstGeom prst="rect">
            <a:avLst/>
          </a:prstGeom>
          <a:noFill/>
          <a:ln/>
        </p:spPr>
        <p:txBody>
          <a:bodyPr wrap="square" lIns="0" tIns="0" rIns="0" bIns="0" rtlCol="0" anchor="t"/>
          <a:lstStyle/>
          <a:p>
            <a:pPr indent="0" marL="0">
              <a:buNone/>
            </a:pPr>
            <a:r>
              <a:rPr lang="en-US" sz="1200" b="1" spc="300" kern="0" dirty="0">
                <a:solidFill>
                  <a:srgbClr val="2DD4BF"/>
                </a:solidFill>
                <a:latin typeface="Segoe UI" pitchFamily="34" charset="0"/>
                <a:ea typeface="Segoe UI" pitchFamily="34" charset="-122"/>
                <a:cs typeface="Segoe UI" pitchFamily="34" charset="-120"/>
              </a:rPr>
              <a:t>APPLIED PREDICTIVE ANALYTICS  |  AI &amp; DATA SCIENCE</a:t>
            </a:r>
            <a:endParaRPr lang="en-US" sz="1200" dirty="0"/>
          </a:p>
        </p:txBody>
      </p:sp>
      <p:sp>
        <p:nvSpPr>
          <p:cNvPr id="11" name="Text 5"/>
          <p:cNvSpPr txBox="1"/>
          <p:nvPr/>
        </p:nvSpPr>
        <p:spPr>
          <a:xfrm>
            <a:off x="548640" y="1097280"/>
            <a:ext cx="7132320" cy="914400"/>
          </a:xfrm>
          <a:prstGeom prst="rect">
            <a:avLst/>
          </a:prstGeom>
          <a:noFill/>
          <a:ln/>
        </p:spPr>
        <p:txBody>
          <a:bodyPr wrap="square" lIns="0" tIns="0" rIns="0" bIns="0" rtlCol="0" anchor="t"/>
          <a:lstStyle/>
          <a:p>
            <a:pPr indent="0" marL="0">
              <a:buNone/>
            </a:pPr>
            <a:r>
              <a:rPr lang="en-US" sz="4400" b="1" dirty="0">
                <a:solidFill>
                  <a:srgbClr val="E9F2FF"/>
                </a:solidFill>
                <a:latin typeface="Segoe UI" pitchFamily="34" charset="0"/>
                <a:ea typeface="Segoe UI" pitchFamily="34" charset="-122"/>
                <a:cs typeface="Segoe UI" pitchFamily="34" charset="-120"/>
              </a:rPr>
              <a:t>EVCharge Intelligence</a:t>
            </a:r>
            <a:endParaRPr lang="en-US" sz="4400" dirty="0"/>
          </a:p>
        </p:txBody>
      </p:sp>
      <p:sp>
        <p:nvSpPr>
          <p:cNvPr id="12" name="Text 6"/>
          <p:cNvSpPr txBox="1"/>
          <p:nvPr/>
        </p:nvSpPr>
        <p:spPr>
          <a:xfrm>
            <a:off x="548640" y="2103120"/>
            <a:ext cx="6949440" cy="1005840"/>
          </a:xfrm>
          <a:prstGeom prst="rect">
            <a:avLst/>
          </a:prstGeom>
          <a:noFill/>
          <a:ln/>
        </p:spPr>
        <p:txBody>
          <a:bodyPr wrap="square" lIns="0" tIns="0" rIns="0" bIns="0" rtlCol="0" anchor="t"/>
          <a:lstStyle/>
          <a:p>
            <a:pPr indent="0" marL="0">
              <a:buNone/>
            </a:pPr>
            <a:r>
              <a:rPr lang="en-US" sz="1800" dirty="0">
                <a:solidFill>
                  <a:srgbClr val="8FA4C6"/>
                </a:solidFill>
                <a:latin typeface="Segoe UI" pitchFamily="34" charset="0"/>
                <a:ea typeface="Segoe UI" pitchFamily="34" charset="-122"/>
                <a:cs typeface="Segoe UI" pitchFamily="34" charset="-120"/>
              </a:rPr>
              <a:t>A Predictive Analytics Framework for EV Charging Demand, Station Congestion and Customer Feedback Analysis</a:t>
            </a:r>
            <a:endParaRPr lang="en-US" sz="1800" dirty="0"/>
          </a:p>
        </p:txBody>
      </p:sp>
      <p:sp>
        <p:nvSpPr>
          <p:cNvPr id="13" name="Shape 7"/>
          <p:cNvSpPr/>
          <p:nvPr/>
        </p:nvSpPr>
        <p:spPr>
          <a:xfrm>
            <a:off x="548640" y="3337560"/>
            <a:ext cx="1097280" cy="45720"/>
          </a:xfrm>
          <a:prstGeom prst="rect">
            <a:avLst/>
          </a:prstGeom>
          <a:solidFill>
            <a:srgbClr val="2DD4BF"/>
          </a:solidFill>
          <a:ln w="12700">
            <a:solidFill>
              <a:srgbClr val="2DD4BF"/>
            </a:solidFill>
            <a:prstDash val="solid"/>
          </a:ln>
        </p:spPr>
      </p:sp>
      <p:sp>
        <p:nvSpPr>
          <p:cNvPr id="14" name="Shape 8"/>
          <p:cNvSpPr/>
          <p:nvPr/>
        </p:nvSpPr>
        <p:spPr>
          <a:xfrm>
            <a:off x="548640" y="3611880"/>
            <a:ext cx="2194560" cy="914400"/>
          </a:xfrm>
          <a:prstGeom prst="roundRect">
            <a:avLst>
              <a:gd name="adj" fmla="val 10000"/>
            </a:avLst>
          </a:prstGeom>
          <a:solidFill>
            <a:srgbClr val="0D1A2E"/>
          </a:solidFill>
          <a:ln w="12700">
            <a:solidFill>
              <a:srgbClr val="1C2F50"/>
            </a:solidFill>
            <a:prstDash val="solid"/>
          </a:ln>
        </p:spPr>
      </p:sp>
      <p:sp>
        <p:nvSpPr>
          <p:cNvPr id="15" name="Text 9"/>
          <p:cNvSpPr txBox="1"/>
          <p:nvPr/>
        </p:nvSpPr>
        <p:spPr>
          <a:xfrm>
            <a:off x="685800" y="3749040"/>
            <a:ext cx="2011680" cy="320040"/>
          </a:xfrm>
          <a:prstGeom prst="rect">
            <a:avLst/>
          </a:prstGeom>
          <a:noFill/>
          <a:ln/>
        </p:spPr>
        <p:txBody>
          <a:bodyPr wrap="square" lIns="0" tIns="0" rIns="0" bIns="0" rtlCol="0" anchor="t"/>
          <a:lstStyle/>
          <a:p>
            <a:pPr indent="0" marL="0">
              <a:buNone/>
            </a:pPr>
            <a:r>
              <a:rPr lang="en-US" sz="1300" b="1" dirty="0">
                <a:solidFill>
                  <a:srgbClr val="E9F2FF"/>
                </a:solidFill>
                <a:latin typeface="Segoe UI" pitchFamily="34" charset="0"/>
                <a:ea typeface="Segoe UI" pitchFamily="34" charset="-122"/>
                <a:cs typeface="Segoe UI" pitchFamily="34" charset="-120"/>
              </a:rPr>
              <a:t>B. Praneeth Reddy</a:t>
            </a:r>
            <a:endParaRPr lang="en-US" sz="1300" dirty="0"/>
          </a:p>
        </p:txBody>
      </p:sp>
      <p:sp>
        <p:nvSpPr>
          <p:cNvPr id="16" name="Text 10"/>
          <p:cNvSpPr txBox="1"/>
          <p:nvPr/>
        </p:nvSpPr>
        <p:spPr>
          <a:xfrm>
            <a:off x="685800" y="4114800"/>
            <a:ext cx="2011680" cy="274320"/>
          </a:xfrm>
          <a:prstGeom prst="rect">
            <a:avLst/>
          </a:prstGeom>
          <a:noFill/>
          <a:ln/>
        </p:spPr>
        <p:txBody>
          <a:bodyPr wrap="square" lIns="0" tIns="0" rIns="0" bIns="0" rtlCol="0" anchor="t"/>
          <a:lstStyle/>
          <a:p>
            <a:pPr indent="0" marL="0">
              <a:buNone/>
            </a:pPr>
            <a:r>
              <a:rPr lang="en-US" sz="1100" dirty="0">
                <a:solidFill>
                  <a:srgbClr val="2DD4BF"/>
                </a:solidFill>
                <a:latin typeface="Segoe UI" pitchFamily="34" charset="0"/>
                <a:ea typeface="Segoe UI" pitchFamily="34" charset="-122"/>
                <a:cs typeface="Segoe UI" pitchFamily="34" charset="-120"/>
              </a:rPr>
              <a:t>Roll No: 160124771028</a:t>
            </a:r>
            <a:endParaRPr lang="en-US" sz="1100" dirty="0"/>
          </a:p>
        </p:txBody>
      </p:sp>
      <p:sp>
        <p:nvSpPr>
          <p:cNvPr id="17" name="Shape 11"/>
          <p:cNvSpPr/>
          <p:nvPr/>
        </p:nvSpPr>
        <p:spPr>
          <a:xfrm>
            <a:off x="2880360" y="3611880"/>
            <a:ext cx="2194560" cy="914400"/>
          </a:xfrm>
          <a:prstGeom prst="roundRect">
            <a:avLst>
              <a:gd name="adj" fmla="val 10000"/>
            </a:avLst>
          </a:prstGeom>
          <a:solidFill>
            <a:srgbClr val="0D1A2E"/>
          </a:solidFill>
          <a:ln w="12700">
            <a:solidFill>
              <a:srgbClr val="1C2F50"/>
            </a:solidFill>
            <a:prstDash val="solid"/>
          </a:ln>
        </p:spPr>
      </p:sp>
      <p:sp>
        <p:nvSpPr>
          <p:cNvPr id="18" name="Text 12"/>
          <p:cNvSpPr txBox="1"/>
          <p:nvPr/>
        </p:nvSpPr>
        <p:spPr>
          <a:xfrm>
            <a:off x="3017520" y="3749040"/>
            <a:ext cx="2011680" cy="320040"/>
          </a:xfrm>
          <a:prstGeom prst="rect">
            <a:avLst/>
          </a:prstGeom>
          <a:noFill/>
          <a:ln/>
        </p:spPr>
        <p:txBody>
          <a:bodyPr wrap="square" lIns="0" tIns="0" rIns="0" bIns="0" rtlCol="0" anchor="t"/>
          <a:lstStyle/>
          <a:p>
            <a:pPr indent="0" marL="0">
              <a:buNone/>
            </a:pPr>
            <a:r>
              <a:rPr lang="en-US" sz="1300" b="1" dirty="0">
                <a:solidFill>
                  <a:srgbClr val="E9F2FF"/>
                </a:solidFill>
                <a:latin typeface="Segoe UI" pitchFamily="34" charset="0"/>
                <a:ea typeface="Segoe UI" pitchFamily="34" charset="-122"/>
                <a:cs typeface="Segoe UI" pitchFamily="34" charset="-120"/>
              </a:rPr>
              <a:t>Syed Afroz</a:t>
            </a:r>
            <a:endParaRPr lang="en-US" sz="1300" dirty="0"/>
          </a:p>
        </p:txBody>
      </p:sp>
      <p:sp>
        <p:nvSpPr>
          <p:cNvPr id="19" name="Text 13"/>
          <p:cNvSpPr txBox="1"/>
          <p:nvPr/>
        </p:nvSpPr>
        <p:spPr>
          <a:xfrm>
            <a:off x="3017520" y="4114800"/>
            <a:ext cx="2011680" cy="274320"/>
          </a:xfrm>
          <a:prstGeom prst="rect">
            <a:avLst/>
          </a:prstGeom>
          <a:noFill/>
          <a:ln/>
        </p:spPr>
        <p:txBody>
          <a:bodyPr wrap="square" lIns="0" tIns="0" rIns="0" bIns="0" rtlCol="0" anchor="t"/>
          <a:lstStyle/>
          <a:p>
            <a:pPr indent="0" marL="0">
              <a:buNone/>
            </a:pPr>
            <a:r>
              <a:rPr lang="en-US" sz="1100" dirty="0">
                <a:solidFill>
                  <a:srgbClr val="2DD4BF"/>
                </a:solidFill>
                <a:latin typeface="Segoe UI" pitchFamily="34" charset="0"/>
                <a:ea typeface="Segoe UI" pitchFamily="34" charset="-122"/>
                <a:cs typeface="Segoe UI" pitchFamily="34" charset="-120"/>
              </a:rPr>
              <a:t>Roll No: 160124771059</a:t>
            </a:r>
            <a:endParaRPr lang="en-US" sz="1100" dirty="0"/>
          </a:p>
        </p:txBody>
      </p:sp>
      <p:sp>
        <p:nvSpPr>
          <p:cNvPr id="20" name="Shape 14"/>
          <p:cNvSpPr/>
          <p:nvPr/>
        </p:nvSpPr>
        <p:spPr>
          <a:xfrm>
            <a:off x="5212080" y="3611880"/>
            <a:ext cx="2194560" cy="914400"/>
          </a:xfrm>
          <a:prstGeom prst="roundRect">
            <a:avLst>
              <a:gd name="adj" fmla="val 10000"/>
            </a:avLst>
          </a:prstGeom>
          <a:solidFill>
            <a:srgbClr val="0D1A2E"/>
          </a:solidFill>
          <a:ln w="12700">
            <a:solidFill>
              <a:srgbClr val="1C2F50"/>
            </a:solidFill>
            <a:prstDash val="solid"/>
          </a:ln>
        </p:spPr>
      </p:sp>
      <p:sp>
        <p:nvSpPr>
          <p:cNvPr id="21" name="Text 15"/>
          <p:cNvSpPr txBox="1"/>
          <p:nvPr/>
        </p:nvSpPr>
        <p:spPr>
          <a:xfrm>
            <a:off x="5349240" y="3749040"/>
            <a:ext cx="2011680" cy="320040"/>
          </a:xfrm>
          <a:prstGeom prst="rect">
            <a:avLst/>
          </a:prstGeom>
          <a:noFill/>
          <a:ln/>
        </p:spPr>
        <p:txBody>
          <a:bodyPr wrap="square" lIns="0" tIns="0" rIns="0" bIns="0" rtlCol="0" anchor="t"/>
          <a:lstStyle/>
          <a:p>
            <a:pPr indent="0" marL="0">
              <a:buNone/>
            </a:pPr>
            <a:r>
              <a:rPr lang="en-US" sz="1300" b="1" dirty="0">
                <a:solidFill>
                  <a:srgbClr val="E9F2FF"/>
                </a:solidFill>
                <a:latin typeface="Segoe UI" pitchFamily="34" charset="0"/>
                <a:ea typeface="Segoe UI" pitchFamily="34" charset="-122"/>
                <a:cs typeface="Segoe UI" pitchFamily="34" charset="-120"/>
              </a:rPr>
              <a:t>Chaitanya Turangi</a:t>
            </a:r>
            <a:endParaRPr lang="en-US" sz="1300" dirty="0"/>
          </a:p>
        </p:txBody>
      </p:sp>
      <p:sp>
        <p:nvSpPr>
          <p:cNvPr id="22" name="Text 16"/>
          <p:cNvSpPr txBox="1"/>
          <p:nvPr/>
        </p:nvSpPr>
        <p:spPr>
          <a:xfrm>
            <a:off x="5349240" y="4114800"/>
            <a:ext cx="2011680" cy="274320"/>
          </a:xfrm>
          <a:prstGeom prst="rect">
            <a:avLst/>
          </a:prstGeom>
          <a:noFill/>
          <a:ln/>
        </p:spPr>
        <p:txBody>
          <a:bodyPr wrap="square" lIns="0" tIns="0" rIns="0" bIns="0" rtlCol="0" anchor="t"/>
          <a:lstStyle/>
          <a:p>
            <a:pPr indent="0" marL="0">
              <a:buNone/>
            </a:pPr>
            <a:r>
              <a:rPr lang="en-US" sz="1100" dirty="0">
                <a:solidFill>
                  <a:srgbClr val="2DD4BF"/>
                </a:solidFill>
                <a:latin typeface="Segoe UI" pitchFamily="34" charset="0"/>
                <a:ea typeface="Segoe UI" pitchFamily="34" charset="-122"/>
                <a:cs typeface="Segoe UI" pitchFamily="34" charset="-120"/>
              </a:rPr>
              <a:t>Roll No: 160124771060</a:t>
            </a:r>
            <a:endParaRPr lang="en-US" sz="1100" dirty="0"/>
          </a:p>
        </p:txBody>
      </p:sp>
      <p:sp>
        <p:nvSpPr>
          <p:cNvPr id="23" name="Text 17"/>
          <p:cNvSpPr txBox="1"/>
          <p:nvPr/>
        </p:nvSpPr>
        <p:spPr>
          <a:xfrm>
            <a:off x="548640" y="4892040"/>
            <a:ext cx="6949440" cy="320040"/>
          </a:xfrm>
          <a:prstGeom prst="rect">
            <a:avLst/>
          </a:prstGeom>
          <a:noFill/>
          <a:ln/>
        </p:spPr>
        <p:txBody>
          <a:bodyPr wrap="square" lIns="0" tIns="0" rIns="0" bIns="0" rtlCol="0" anchor="t"/>
          <a:lstStyle/>
          <a:p>
            <a:pPr indent="0" marL="0">
              <a:buNone/>
            </a:pPr>
            <a:r>
              <a:rPr lang="en-US" sz="1500" b="1" dirty="0">
                <a:solidFill>
                  <a:srgbClr val="E9F2FF"/>
                </a:solidFill>
                <a:latin typeface="Segoe UI" pitchFamily="34" charset="0"/>
                <a:ea typeface="Segoe UI" pitchFamily="34" charset="-122"/>
                <a:cs typeface="Segoe UI" pitchFamily="34" charset="-120"/>
              </a:rPr>
              <a:t>Chaitanya Bharathi Institute of Technology</a:t>
            </a:r>
            <a:endParaRPr lang="en-US" sz="1500" dirty="0"/>
          </a:p>
        </p:txBody>
      </p:sp>
      <p:sp>
        <p:nvSpPr>
          <p:cNvPr id="24" name="Text 18"/>
          <p:cNvSpPr txBox="1"/>
          <p:nvPr/>
        </p:nvSpPr>
        <p:spPr>
          <a:xfrm>
            <a:off x="548640" y="5257800"/>
            <a:ext cx="6949440" cy="2743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Department of AI &amp; Data Science  |  Applied Predictive Analytics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Problem Statement &amp; Objectives</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Why EV charging operators need prediction, not just reporting</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2 / 11</a:t>
            </a:r>
            <a:endParaRPr lang="en-US" sz="1000" dirty="0"/>
          </a:p>
        </p:txBody>
      </p:sp>
      <p:sp>
        <p:nvSpPr>
          <p:cNvPr id="7" name="Shape 4"/>
          <p:cNvSpPr/>
          <p:nvPr/>
        </p:nvSpPr>
        <p:spPr>
          <a:xfrm>
            <a:off x="457200" y="1371600"/>
            <a:ext cx="2697480" cy="1600200"/>
          </a:xfrm>
          <a:prstGeom prst="roundRect">
            <a:avLst>
              <a:gd name="adj" fmla="val 5714"/>
            </a:avLst>
          </a:prstGeom>
          <a:solidFill>
            <a:srgbClr val="0D1A2E"/>
          </a:solidFill>
          <a:ln w="12700">
            <a:solidFill>
              <a:srgbClr val="1C2F50"/>
            </a:solidFill>
            <a:prstDash val="solid"/>
          </a:ln>
        </p:spPr>
      </p:sp>
      <p:pic>
        <p:nvPicPr>
          <p:cNvPr id="8" name="Image 0" descr="preencoded.png">    </p:cNvPr>
          <p:cNvPicPr>
            <a:picLocks noChangeAspect="1"/>
          </p:cNvPicPr>
          <p:nvPr/>
        </p:nvPicPr>
        <p:blipFill>
          <a:blip r:embed="rId1"/>
          <a:stretch>
            <a:fillRect/>
          </a:stretch>
        </p:blipFill>
        <p:spPr>
          <a:xfrm>
            <a:off x="640080" y="1536192"/>
            <a:ext cx="411480" cy="411480"/>
          </a:xfrm>
          <a:prstGeom prst="rect">
            <a:avLst/>
          </a:prstGeom>
        </p:spPr>
      </p:pic>
      <p:sp>
        <p:nvSpPr>
          <p:cNvPr id="9" name="Text 5"/>
          <p:cNvSpPr txBox="1"/>
          <p:nvPr/>
        </p:nvSpPr>
        <p:spPr>
          <a:xfrm>
            <a:off x="1188720" y="1600200"/>
            <a:ext cx="1828800" cy="36576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Variable demand</a:t>
            </a:r>
            <a:endParaRPr lang="en-US" sz="1400" dirty="0"/>
          </a:p>
        </p:txBody>
      </p:sp>
      <p:sp>
        <p:nvSpPr>
          <p:cNvPr id="10" name="Text 6"/>
          <p:cNvSpPr txBox="1"/>
          <p:nvPr/>
        </p:nvSpPr>
        <p:spPr>
          <a:xfrm>
            <a:off x="640080" y="2121408"/>
            <a:ext cx="2377440" cy="7315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EV charging demand is variable across time and stations.</a:t>
            </a:r>
            <a:endParaRPr lang="en-US" sz="1200" dirty="0"/>
          </a:p>
        </p:txBody>
      </p:sp>
      <p:sp>
        <p:nvSpPr>
          <p:cNvPr id="11" name="Shape 7"/>
          <p:cNvSpPr/>
          <p:nvPr/>
        </p:nvSpPr>
        <p:spPr>
          <a:xfrm>
            <a:off x="3310128" y="1371600"/>
            <a:ext cx="2697480" cy="1600200"/>
          </a:xfrm>
          <a:prstGeom prst="roundRect">
            <a:avLst>
              <a:gd name="adj" fmla="val 5714"/>
            </a:avLst>
          </a:prstGeom>
          <a:solidFill>
            <a:srgbClr val="0D1A2E"/>
          </a:solidFill>
          <a:ln w="12700">
            <a:solidFill>
              <a:srgbClr val="1C2F50"/>
            </a:solidFill>
            <a:prstDash val="solid"/>
          </a:ln>
        </p:spPr>
      </p:sp>
      <p:pic>
        <p:nvPicPr>
          <p:cNvPr id="12" name="Image 1" descr="preencoded.png">    </p:cNvPr>
          <p:cNvPicPr>
            <a:picLocks noChangeAspect="1"/>
          </p:cNvPicPr>
          <p:nvPr/>
        </p:nvPicPr>
        <p:blipFill>
          <a:blip r:embed="rId2"/>
          <a:stretch>
            <a:fillRect/>
          </a:stretch>
        </p:blipFill>
        <p:spPr>
          <a:xfrm>
            <a:off x="3493008" y="1536192"/>
            <a:ext cx="411480" cy="411480"/>
          </a:xfrm>
          <a:prstGeom prst="rect">
            <a:avLst/>
          </a:prstGeom>
        </p:spPr>
      </p:pic>
      <p:sp>
        <p:nvSpPr>
          <p:cNvPr id="13" name="Text 8"/>
          <p:cNvSpPr txBox="1"/>
          <p:nvPr/>
        </p:nvSpPr>
        <p:spPr>
          <a:xfrm>
            <a:off x="4041648" y="1600200"/>
            <a:ext cx="1828800" cy="36576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Station congestion</a:t>
            </a:r>
            <a:endParaRPr lang="en-US" sz="1400" dirty="0"/>
          </a:p>
        </p:txBody>
      </p:sp>
      <p:sp>
        <p:nvSpPr>
          <p:cNvPr id="14" name="Text 9"/>
          <p:cNvSpPr txBox="1"/>
          <p:nvPr/>
        </p:nvSpPr>
        <p:spPr>
          <a:xfrm>
            <a:off x="3493008" y="2121408"/>
            <a:ext cx="2377440" cy="7315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Charging stations can become congested.</a:t>
            </a:r>
            <a:endParaRPr lang="en-US" sz="1200" dirty="0"/>
          </a:p>
        </p:txBody>
      </p:sp>
      <p:sp>
        <p:nvSpPr>
          <p:cNvPr id="15" name="Shape 10"/>
          <p:cNvSpPr/>
          <p:nvPr/>
        </p:nvSpPr>
        <p:spPr>
          <a:xfrm>
            <a:off x="6163056" y="1371600"/>
            <a:ext cx="2697480" cy="1600200"/>
          </a:xfrm>
          <a:prstGeom prst="roundRect">
            <a:avLst>
              <a:gd name="adj" fmla="val 5714"/>
            </a:avLst>
          </a:prstGeom>
          <a:solidFill>
            <a:srgbClr val="0D1A2E"/>
          </a:solidFill>
          <a:ln w="12700">
            <a:solidFill>
              <a:srgbClr val="1C2F50"/>
            </a:solidFill>
            <a:prstDash val="solid"/>
          </a:ln>
        </p:spPr>
      </p:sp>
      <p:pic>
        <p:nvPicPr>
          <p:cNvPr id="16" name="Image 2" descr="preencoded.png">    </p:cNvPr>
          <p:cNvPicPr>
            <a:picLocks noChangeAspect="1"/>
          </p:cNvPicPr>
          <p:nvPr/>
        </p:nvPicPr>
        <p:blipFill>
          <a:blip r:embed="rId3"/>
          <a:stretch>
            <a:fillRect/>
          </a:stretch>
        </p:blipFill>
        <p:spPr>
          <a:xfrm>
            <a:off x="6345936" y="1536192"/>
            <a:ext cx="411480" cy="411480"/>
          </a:xfrm>
          <a:prstGeom prst="rect">
            <a:avLst/>
          </a:prstGeom>
        </p:spPr>
      </p:pic>
      <p:sp>
        <p:nvSpPr>
          <p:cNvPr id="17" name="Text 11"/>
          <p:cNvSpPr txBox="1"/>
          <p:nvPr/>
        </p:nvSpPr>
        <p:spPr>
          <a:xfrm>
            <a:off x="6894576" y="1600200"/>
            <a:ext cx="1828800" cy="36576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Traffic &amp; weather</a:t>
            </a:r>
            <a:endParaRPr lang="en-US" sz="1400" dirty="0"/>
          </a:p>
        </p:txBody>
      </p:sp>
      <p:sp>
        <p:nvSpPr>
          <p:cNvPr id="18" name="Text 12"/>
          <p:cNvSpPr txBox="1"/>
          <p:nvPr/>
        </p:nvSpPr>
        <p:spPr>
          <a:xfrm>
            <a:off x="6345936" y="2121408"/>
            <a:ext cx="2377440" cy="7315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Traffic and weather can influence demand.</a:t>
            </a:r>
            <a:endParaRPr lang="en-US" sz="1200" dirty="0"/>
          </a:p>
        </p:txBody>
      </p:sp>
      <p:sp>
        <p:nvSpPr>
          <p:cNvPr id="19" name="Shape 13"/>
          <p:cNvSpPr/>
          <p:nvPr/>
        </p:nvSpPr>
        <p:spPr>
          <a:xfrm>
            <a:off x="9015984" y="1371600"/>
            <a:ext cx="2697480" cy="1600200"/>
          </a:xfrm>
          <a:prstGeom prst="roundRect">
            <a:avLst>
              <a:gd name="adj" fmla="val 5714"/>
            </a:avLst>
          </a:prstGeom>
          <a:solidFill>
            <a:srgbClr val="0D1A2E"/>
          </a:solidFill>
          <a:ln w="12700">
            <a:solidFill>
              <a:srgbClr val="1C2F50"/>
            </a:solidFill>
            <a:prstDash val="solid"/>
          </a:ln>
        </p:spPr>
      </p:sp>
      <p:pic>
        <p:nvPicPr>
          <p:cNvPr id="20" name="Image 3" descr="preencoded.png">    </p:cNvPr>
          <p:cNvPicPr>
            <a:picLocks noChangeAspect="1"/>
          </p:cNvPicPr>
          <p:nvPr/>
        </p:nvPicPr>
        <p:blipFill>
          <a:blip r:embed="rId4"/>
          <a:stretch>
            <a:fillRect/>
          </a:stretch>
        </p:blipFill>
        <p:spPr>
          <a:xfrm>
            <a:off x="9198864" y="1536192"/>
            <a:ext cx="411480" cy="411480"/>
          </a:xfrm>
          <a:prstGeom prst="rect">
            <a:avLst/>
          </a:prstGeom>
        </p:spPr>
      </p:pic>
      <p:sp>
        <p:nvSpPr>
          <p:cNvPr id="21" name="Text 14"/>
          <p:cNvSpPr txBox="1"/>
          <p:nvPr/>
        </p:nvSpPr>
        <p:spPr>
          <a:xfrm>
            <a:off x="9747504" y="1600200"/>
            <a:ext cx="1828800" cy="36576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Customer experience</a:t>
            </a:r>
            <a:endParaRPr lang="en-US" sz="1400" dirty="0"/>
          </a:p>
        </p:txBody>
      </p:sp>
      <p:sp>
        <p:nvSpPr>
          <p:cNvPr id="22" name="Text 15"/>
          <p:cNvSpPr txBox="1"/>
          <p:nvPr/>
        </p:nvSpPr>
        <p:spPr>
          <a:xfrm>
            <a:off x="9198864" y="2121408"/>
            <a:ext cx="2377440" cy="7315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Experience varies between stations.</a:t>
            </a:r>
            <a:endParaRPr lang="en-US" sz="1200" dirty="0"/>
          </a:p>
        </p:txBody>
      </p:sp>
      <p:sp>
        <p:nvSpPr>
          <p:cNvPr id="23" name="Text 16"/>
          <p:cNvSpPr txBox="1"/>
          <p:nvPr/>
        </p:nvSpPr>
        <p:spPr>
          <a:xfrm>
            <a:off x="457200" y="3291840"/>
            <a:ext cx="5486400" cy="274320"/>
          </a:xfrm>
          <a:prstGeom prst="rect">
            <a:avLst/>
          </a:prstGeom>
          <a:noFill/>
          <a:ln/>
        </p:spPr>
        <p:txBody>
          <a:bodyPr wrap="square" lIns="0" tIns="0" rIns="0" bIns="0" rtlCol="0" anchor="t"/>
          <a:lstStyle/>
          <a:p>
            <a:pPr indent="0" marL="0">
              <a:buNone/>
            </a:pPr>
            <a:r>
              <a:rPr lang="en-US" sz="1200" b="1" spc="200" kern="0" dirty="0">
                <a:solidFill>
                  <a:srgbClr val="2DD4BF"/>
                </a:solidFill>
                <a:latin typeface="Segoe UI" pitchFamily="34" charset="0"/>
                <a:ea typeface="Segoe UI" pitchFamily="34" charset="-122"/>
                <a:cs typeface="Segoe UI" pitchFamily="34" charset="-120"/>
              </a:rPr>
              <a:t>PROJECT OBJECTIVES</a:t>
            </a:r>
            <a:endParaRPr lang="en-US" sz="1200" dirty="0"/>
          </a:p>
        </p:txBody>
      </p:sp>
      <p:sp>
        <p:nvSpPr>
          <p:cNvPr id="24" name="Shape 17"/>
          <p:cNvSpPr/>
          <p:nvPr/>
        </p:nvSpPr>
        <p:spPr>
          <a:xfrm>
            <a:off x="457200" y="3657600"/>
            <a:ext cx="2103120" cy="2011680"/>
          </a:xfrm>
          <a:prstGeom prst="roundRect">
            <a:avLst>
              <a:gd name="adj" fmla="val 4545"/>
            </a:avLst>
          </a:prstGeom>
          <a:solidFill>
            <a:srgbClr val="0D1A2E"/>
          </a:solidFill>
          <a:ln w="12700">
            <a:solidFill>
              <a:srgbClr val="2DD4BF"/>
            </a:solidFill>
            <a:prstDash val="solid"/>
          </a:ln>
        </p:spPr>
      </p:sp>
      <p:sp>
        <p:nvSpPr>
          <p:cNvPr id="25" name="Shape 18"/>
          <p:cNvSpPr/>
          <p:nvPr/>
        </p:nvSpPr>
        <p:spPr>
          <a:xfrm>
            <a:off x="640080" y="3840480"/>
            <a:ext cx="548640" cy="548640"/>
          </a:xfrm>
          <a:prstGeom prst="ellipse">
            <a:avLst/>
          </a:prstGeom>
          <a:solidFill>
            <a:srgbClr val="2DD4BF"/>
          </a:solidFill>
          <a:ln w="12700">
            <a:solidFill>
              <a:srgbClr val="2DD4BF"/>
            </a:solidFill>
            <a:prstDash val="solid"/>
          </a:ln>
        </p:spPr>
      </p:sp>
      <p:sp>
        <p:nvSpPr>
          <p:cNvPr id="26" name="Text 19"/>
          <p:cNvSpPr txBox="1"/>
          <p:nvPr/>
        </p:nvSpPr>
        <p:spPr>
          <a:xfrm>
            <a:off x="640080" y="3840480"/>
            <a:ext cx="548640" cy="548640"/>
          </a:xfrm>
          <a:prstGeom prst="rect">
            <a:avLst/>
          </a:prstGeom>
          <a:noFill/>
          <a:ln/>
        </p:spPr>
        <p:txBody>
          <a:bodyPr wrap="square" lIns="0" tIns="0" rIns="0" bIns="0" rtlCol="0" anchor="ctr"/>
          <a:lstStyle/>
          <a:p>
            <a:pPr algn="ctr" indent="0" marL="0">
              <a:buNone/>
            </a:pPr>
            <a:r>
              <a:rPr lang="en-US" sz="2000" b="1" dirty="0">
                <a:solidFill>
                  <a:srgbClr val="060C18"/>
                </a:solidFill>
                <a:latin typeface="Segoe UI" pitchFamily="34" charset="0"/>
                <a:ea typeface="Segoe UI" pitchFamily="34" charset="-122"/>
                <a:cs typeface="Segoe UI" pitchFamily="34" charset="-120"/>
              </a:rPr>
              <a:t>1</a:t>
            </a:r>
            <a:endParaRPr lang="en-US" sz="2000" dirty="0"/>
          </a:p>
        </p:txBody>
      </p:sp>
      <p:sp>
        <p:nvSpPr>
          <p:cNvPr id="27" name="Text 20"/>
          <p:cNvSpPr txBox="1"/>
          <p:nvPr/>
        </p:nvSpPr>
        <p:spPr>
          <a:xfrm>
            <a:off x="640080" y="4572000"/>
            <a:ext cx="1783080" cy="91440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Predict charging demand</a:t>
            </a:r>
            <a:endParaRPr lang="en-US" sz="1400" dirty="0"/>
          </a:p>
        </p:txBody>
      </p:sp>
      <p:sp>
        <p:nvSpPr>
          <p:cNvPr id="28" name="Text 21"/>
          <p:cNvSpPr txBox="1"/>
          <p:nvPr/>
        </p:nvSpPr>
        <p:spPr>
          <a:xfrm>
            <a:off x="2560320" y="4389120"/>
            <a:ext cx="182880" cy="457200"/>
          </a:xfrm>
          <a:prstGeom prst="rect">
            <a:avLst/>
          </a:prstGeom>
          <a:noFill/>
          <a:ln/>
        </p:spPr>
        <p:txBody>
          <a:bodyPr wrap="square" lIns="0" tIns="0" rIns="0" bIns="0" rtlCol="0" anchor="ctr"/>
          <a:lstStyle/>
          <a:p>
            <a:pPr algn="ctr" indent="0" marL="0">
              <a:buNone/>
            </a:pPr>
            <a:r>
              <a:rPr lang="en-US" sz="2200" dirty="0">
                <a:solidFill>
                  <a:srgbClr val="8FA4C6"/>
                </a:solidFill>
                <a:latin typeface="Segoe UI" pitchFamily="34" charset="0"/>
                <a:ea typeface="Segoe UI" pitchFamily="34" charset="-122"/>
                <a:cs typeface="Segoe UI" pitchFamily="34" charset="-120"/>
              </a:rPr>
              <a:t>›</a:t>
            </a:r>
            <a:endParaRPr lang="en-US" sz="2200" dirty="0"/>
          </a:p>
        </p:txBody>
      </p:sp>
      <p:sp>
        <p:nvSpPr>
          <p:cNvPr id="29" name="Shape 22"/>
          <p:cNvSpPr/>
          <p:nvPr/>
        </p:nvSpPr>
        <p:spPr>
          <a:xfrm>
            <a:off x="2743200" y="3657600"/>
            <a:ext cx="2103120" cy="2011680"/>
          </a:xfrm>
          <a:prstGeom prst="roundRect">
            <a:avLst>
              <a:gd name="adj" fmla="val 4545"/>
            </a:avLst>
          </a:prstGeom>
          <a:solidFill>
            <a:srgbClr val="0D1A2E"/>
          </a:solidFill>
          <a:ln w="12700">
            <a:solidFill>
              <a:srgbClr val="4F8CFF"/>
            </a:solidFill>
            <a:prstDash val="solid"/>
          </a:ln>
        </p:spPr>
      </p:sp>
      <p:sp>
        <p:nvSpPr>
          <p:cNvPr id="30" name="Shape 23"/>
          <p:cNvSpPr/>
          <p:nvPr/>
        </p:nvSpPr>
        <p:spPr>
          <a:xfrm>
            <a:off x="2926080" y="3840480"/>
            <a:ext cx="548640" cy="548640"/>
          </a:xfrm>
          <a:prstGeom prst="ellipse">
            <a:avLst/>
          </a:prstGeom>
          <a:solidFill>
            <a:srgbClr val="4F8CFF"/>
          </a:solidFill>
          <a:ln w="12700">
            <a:solidFill>
              <a:srgbClr val="4F8CFF"/>
            </a:solidFill>
            <a:prstDash val="solid"/>
          </a:ln>
        </p:spPr>
      </p:sp>
      <p:sp>
        <p:nvSpPr>
          <p:cNvPr id="31" name="Text 24"/>
          <p:cNvSpPr txBox="1"/>
          <p:nvPr/>
        </p:nvSpPr>
        <p:spPr>
          <a:xfrm>
            <a:off x="2926080" y="3840480"/>
            <a:ext cx="548640" cy="548640"/>
          </a:xfrm>
          <a:prstGeom prst="rect">
            <a:avLst/>
          </a:prstGeom>
          <a:noFill/>
          <a:ln/>
        </p:spPr>
        <p:txBody>
          <a:bodyPr wrap="square" lIns="0" tIns="0" rIns="0" bIns="0" rtlCol="0" anchor="ctr"/>
          <a:lstStyle/>
          <a:p>
            <a:pPr algn="ctr" indent="0" marL="0">
              <a:buNone/>
            </a:pPr>
            <a:r>
              <a:rPr lang="en-US" sz="2000" b="1" dirty="0">
                <a:solidFill>
                  <a:srgbClr val="060C18"/>
                </a:solidFill>
                <a:latin typeface="Segoe UI" pitchFamily="34" charset="0"/>
                <a:ea typeface="Segoe UI" pitchFamily="34" charset="-122"/>
                <a:cs typeface="Segoe UI" pitchFamily="34" charset="-120"/>
              </a:rPr>
              <a:t>2</a:t>
            </a:r>
            <a:endParaRPr lang="en-US" sz="2000" dirty="0"/>
          </a:p>
        </p:txBody>
      </p:sp>
      <p:sp>
        <p:nvSpPr>
          <p:cNvPr id="32" name="Text 25"/>
          <p:cNvSpPr txBox="1"/>
          <p:nvPr/>
        </p:nvSpPr>
        <p:spPr>
          <a:xfrm>
            <a:off x="2926080" y="4572000"/>
            <a:ext cx="1783080" cy="91440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Predict station congestion</a:t>
            </a:r>
            <a:endParaRPr lang="en-US" sz="1400" dirty="0"/>
          </a:p>
        </p:txBody>
      </p:sp>
      <p:sp>
        <p:nvSpPr>
          <p:cNvPr id="33" name="Text 26"/>
          <p:cNvSpPr txBox="1"/>
          <p:nvPr/>
        </p:nvSpPr>
        <p:spPr>
          <a:xfrm>
            <a:off x="4846320" y="4389120"/>
            <a:ext cx="182880" cy="457200"/>
          </a:xfrm>
          <a:prstGeom prst="rect">
            <a:avLst/>
          </a:prstGeom>
          <a:noFill/>
          <a:ln/>
        </p:spPr>
        <p:txBody>
          <a:bodyPr wrap="square" lIns="0" tIns="0" rIns="0" bIns="0" rtlCol="0" anchor="ctr"/>
          <a:lstStyle/>
          <a:p>
            <a:pPr algn="ctr" indent="0" marL="0">
              <a:buNone/>
            </a:pPr>
            <a:r>
              <a:rPr lang="en-US" sz="2200" dirty="0">
                <a:solidFill>
                  <a:srgbClr val="8FA4C6"/>
                </a:solidFill>
                <a:latin typeface="Segoe UI" pitchFamily="34" charset="0"/>
                <a:ea typeface="Segoe UI" pitchFamily="34" charset="-122"/>
                <a:cs typeface="Segoe UI" pitchFamily="34" charset="-120"/>
              </a:rPr>
              <a:t>›</a:t>
            </a:r>
            <a:endParaRPr lang="en-US" sz="2200" dirty="0"/>
          </a:p>
        </p:txBody>
      </p:sp>
      <p:sp>
        <p:nvSpPr>
          <p:cNvPr id="34" name="Shape 27"/>
          <p:cNvSpPr/>
          <p:nvPr/>
        </p:nvSpPr>
        <p:spPr>
          <a:xfrm>
            <a:off x="5029200" y="3657600"/>
            <a:ext cx="2103120" cy="2011680"/>
          </a:xfrm>
          <a:prstGeom prst="roundRect">
            <a:avLst>
              <a:gd name="adj" fmla="val 4545"/>
            </a:avLst>
          </a:prstGeom>
          <a:solidFill>
            <a:srgbClr val="0D1A2E"/>
          </a:solidFill>
          <a:ln w="12700">
            <a:solidFill>
              <a:srgbClr val="22C55E"/>
            </a:solidFill>
            <a:prstDash val="solid"/>
          </a:ln>
        </p:spPr>
      </p:sp>
      <p:sp>
        <p:nvSpPr>
          <p:cNvPr id="35" name="Shape 28"/>
          <p:cNvSpPr/>
          <p:nvPr/>
        </p:nvSpPr>
        <p:spPr>
          <a:xfrm>
            <a:off x="5212080" y="3840480"/>
            <a:ext cx="548640" cy="548640"/>
          </a:xfrm>
          <a:prstGeom prst="ellipse">
            <a:avLst/>
          </a:prstGeom>
          <a:solidFill>
            <a:srgbClr val="22C55E"/>
          </a:solidFill>
          <a:ln w="12700">
            <a:solidFill>
              <a:srgbClr val="22C55E"/>
            </a:solidFill>
            <a:prstDash val="solid"/>
          </a:ln>
        </p:spPr>
      </p:sp>
      <p:sp>
        <p:nvSpPr>
          <p:cNvPr id="36" name="Text 29"/>
          <p:cNvSpPr txBox="1"/>
          <p:nvPr/>
        </p:nvSpPr>
        <p:spPr>
          <a:xfrm>
            <a:off x="5212080" y="3840480"/>
            <a:ext cx="548640" cy="548640"/>
          </a:xfrm>
          <a:prstGeom prst="rect">
            <a:avLst/>
          </a:prstGeom>
          <a:noFill/>
          <a:ln/>
        </p:spPr>
        <p:txBody>
          <a:bodyPr wrap="square" lIns="0" tIns="0" rIns="0" bIns="0" rtlCol="0" anchor="ctr"/>
          <a:lstStyle/>
          <a:p>
            <a:pPr algn="ctr" indent="0" marL="0">
              <a:buNone/>
            </a:pPr>
            <a:r>
              <a:rPr lang="en-US" sz="2000" b="1" dirty="0">
                <a:solidFill>
                  <a:srgbClr val="060C18"/>
                </a:solidFill>
                <a:latin typeface="Segoe UI" pitchFamily="34" charset="0"/>
                <a:ea typeface="Segoe UI" pitchFamily="34" charset="-122"/>
                <a:cs typeface="Segoe UI" pitchFamily="34" charset="-120"/>
              </a:rPr>
              <a:t>3</a:t>
            </a:r>
            <a:endParaRPr lang="en-US" sz="2000" dirty="0"/>
          </a:p>
        </p:txBody>
      </p:sp>
      <p:sp>
        <p:nvSpPr>
          <p:cNvPr id="37" name="Text 30"/>
          <p:cNvSpPr txBox="1"/>
          <p:nvPr/>
        </p:nvSpPr>
        <p:spPr>
          <a:xfrm>
            <a:off x="5212080" y="4572000"/>
            <a:ext cx="1783080" cy="91440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Analyze customer feedback</a:t>
            </a:r>
            <a:endParaRPr lang="en-US" sz="1400" dirty="0"/>
          </a:p>
        </p:txBody>
      </p:sp>
      <p:sp>
        <p:nvSpPr>
          <p:cNvPr id="38" name="Text 31"/>
          <p:cNvSpPr txBox="1"/>
          <p:nvPr/>
        </p:nvSpPr>
        <p:spPr>
          <a:xfrm>
            <a:off x="7132320" y="4389120"/>
            <a:ext cx="182880" cy="457200"/>
          </a:xfrm>
          <a:prstGeom prst="rect">
            <a:avLst/>
          </a:prstGeom>
          <a:noFill/>
          <a:ln/>
        </p:spPr>
        <p:txBody>
          <a:bodyPr wrap="square" lIns="0" tIns="0" rIns="0" bIns="0" rtlCol="0" anchor="ctr"/>
          <a:lstStyle/>
          <a:p>
            <a:pPr algn="ctr" indent="0" marL="0">
              <a:buNone/>
            </a:pPr>
            <a:r>
              <a:rPr lang="en-US" sz="2200" dirty="0">
                <a:solidFill>
                  <a:srgbClr val="8FA4C6"/>
                </a:solidFill>
                <a:latin typeface="Segoe UI" pitchFamily="34" charset="0"/>
                <a:ea typeface="Segoe UI" pitchFamily="34" charset="-122"/>
                <a:cs typeface="Segoe UI" pitchFamily="34" charset="-120"/>
              </a:rPr>
              <a:t>›</a:t>
            </a:r>
            <a:endParaRPr lang="en-US" sz="2200" dirty="0"/>
          </a:p>
        </p:txBody>
      </p:sp>
      <p:sp>
        <p:nvSpPr>
          <p:cNvPr id="39" name="Shape 32"/>
          <p:cNvSpPr/>
          <p:nvPr/>
        </p:nvSpPr>
        <p:spPr>
          <a:xfrm>
            <a:off x="7315200" y="3657600"/>
            <a:ext cx="2103120" cy="2011680"/>
          </a:xfrm>
          <a:prstGeom prst="roundRect">
            <a:avLst>
              <a:gd name="adj" fmla="val 4545"/>
            </a:avLst>
          </a:prstGeom>
          <a:solidFill>
            <a:srgbClr val="0D1A2E"/>
          </a:solidFill>
          <a:ln w="12700">
            <a:solidFill>
              <a:srgbClr val="F59E0B"/>
            </a:solidFill>
            <a:prstDash val="solid"/>
          </a:ln>
        </p:spPr>
      </p:sp>
      <p:sp>
        <p:nvSpPr>
          <p:cNvPr id="40" name="Shape 33"/>
          <p:cNvSpPr/>
          <p:nvPr/>
        </p:nvSpPr>
        <p:spPr>
          <a:xfrm>
            <a:off x="7498080" y="3840480"/>
            <a:ext cx="548640" cy="548640"/>
          </a:xfrm>
          <a:prstGeom prst="ellipse">
            <a:avLst/>
          </a:prstGeom>
          <a:solidFill>
            <a:srgbClr val="F59E0B"/>
          </a:solidFill>
          <a:ln w="12700">
            <a:solidFill>
              <a:srgbClr val="F59E0B"/>
            </a:solidFill>
            <a:prstDash val="solid"/>
          </a:ln>
        </p:spPr>
      </p:sp>
      <p:sp>
        <p:nvSpPr>
          <p:cNvPr id="41" name="Text 34"/>
          <p:cNvSpPr txBox="1"/>
          <p:nvPr/>
        </p:nvSpPr>
        <p:spPr>
          <a:xfrm>
            <a:off x="7498080" y="3840480"/>
            <a:ext cx="548640" cy="548640"/>
          </a:xfrm>
          <a:prstGeom prst="rect">
            <a:avLst/>
          </a:prstGeom>
          <a:noFill/>
          <a:ln/>
        </p:spPr>
        <p:txBody>
          <a:bodyPr wrap="square" lIns="0" tIns="0" rIns="0" bIns="0" rtlCol="0" anchor="ctr"/>
          <a:lstStyle/>
          <a:p>
            <a:pPr algn="ctr" indent="0" marL="0">
              <a:buNone/>
            </a:pPr>
            <a:r>
              <a:rPr lang="en-US" sz="2000" b="1" dirty="0">
                <a:solidFill>
                  <a:srgbClr val="060C18"/>
                </a:solidFill>
                <a:latin typeface="Segoe UI" pitchFamily="34" charset="0"/>
                <a:ea typeface="Segoe UI" pitchFamily="34" charset="-122"/>
                <a:cs typeface="Segoe UI" pitchFamily="34" charset="-120"/>
              </a:rPr>
              <a:t>4</a:t>
            </a:r>
            <a:endParaRPr lang="en-US" sz="2000" dirty="0"/>
          </a:p>
        </p:txBody>
      </p:sp>
      <p:sp>
        <p:nvSpPr>
          <p:cNvPr id="42" name="Text 35"/>
          <p:cNvSpPr txBox="1"/>
          <p:nvPr/>
        </p:nvSpPr>
        <p:spPr>
          <a:xfrm>
            <a:off x="7498080" y="4572000"/>
            <a:ext cx="1783080" cy="91440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Compare stations / cities</a:t>
            </a:r>
            <a:endParaRPr lang="en-US" sz="1400" dirty="0"/>
          </a:p>
        </p:txBody>
      </p:sp>
      <p:sp>
        <p:nvSpPr>
          <p:cNvPr id="43" name="Text 36"/>
          <p:cNvSpPr txBox="1"/>
          <p:nvPr/>
        </p:nvSpPr>
        <p:spPr>
          <a:xfrm>
            <a:off x="9418320" y="4389120"/>
            <a:ext cx="182880" cy="457200"/>
          </a:xfrm>
          <a:prstGeom prst="rect">
            <a:avLst/>
          </a:prstGeom>
          <a:noFill/>
          <a:ln/>
        </p:spPr>
        <p:txBody>
          <a:bodyPr wrap="square" lIns="0" tIns="0" rIns="0" bIns="0" rtlCol="0" anchor="ctr"/>
          <a:lstStyle/>
          <a:p>
            <a:pPr algn="ctr" indent="0" marL="0">
              <a:buNone/>
            </a:pPr>
            <a:r>
              <a:rPr lang="en-US" sz="2200" dirty="0">
                <a:solidFill>
                  <a:srgbClr val="8FA4C6"/>
                </a:solidFill>
                <a:latin typeface="Segoe UI" pitchFamily="34" charset="0"/>
                <a:ea typeface="Segoe UI" pitchFamily="34" charset="-122"/>
                <a:cs typeface="Segoe UI" pitchFamily="34" charset="-120"/>
              </a:rPr>
              <a:t>›</a:t>
            </a:r>
            <a:endParaRPr lang="en-US" sz="2200" dirty="0"/>
          </a:p>
        </p:txBody>
      </p:sp>
      <p:sp>
        <p:nvSpPr>
          <p:cNvPr id="44" name="Shape 37"/>
          <p:cNvSpPr/>
          <p:nvPr/>
        </p:nvSpPr>
        <p:spPr>
          <a:xfrm>
            <a:off x="9601200" y="3657600"/>
            <a:ext cx="2103120" cy="2011680"/>
          </a:xfrm>
          <a:prstGeom prst="roundRect">
            <a:avLst>
              <a:gd name="adj" fmla="val 4545"/>
            </a:avLst>
          </a:prstGeom>
          <a:solidFill>
            <a:srgbClr val="0D1A2E"/>
          </a:solidFill>
          <a:ln w="12700">
            <a:solidFill>
              <a:srgbClr val="EF4444"/>
            </a:solidFill>
            <a:prstDash val="solid"/>
          </a:ln>
        </p:spPr>
      </p:sp>
      <p:sp>
        <p:nvSpPr>
          <p:cNvPr id="45" name="Shape 38"/>
          <p:cNvSpPr/>
          <p:nvPr/>
        </p:nvSpPr>
        <p:spPr>
          <a:xfrm>
            <a:off x="9784080" y="3840480"/>
            <a:ext cx="548640" cy="548640"/>
          </a:xfrm>
          <a:prstGeom prst="ellipse">
            <a:avLst/>
          </a:prstGeom>
          <a:solidFill>
            <a:srgbClr val="EF4444"/>
          </a:solidFill>
          <a:ln w="12700">
            <a:solidFill>
              <a:srgbClr val="EF4444"/>
            </a:solidFill>
            <a:prstDash val="solid"/>
          </a:ln>
        </p:spPr>
      </p:sp>
      <p:sp>
        <p:nvSpPr>
          <p:cNvPr id="46" name="Text 39"/>
          <p:cNvSpPr txBox="1"/>
          <p:nvPr/>
        </p:nvSpPr>
        <p:spPr>
          <a:xfrm>
            <a:off x="9784080" y="3840480"/>
            <a:ext cx="548640" cy="548640"/>
          </a:xfrm>
          <a:prstGeom prst="rect">
            <a:avLst/>
          </a:prstGeom>
          <a:noFill/>
          <a:ln/>
        </p:spPr>
        <p:txBody>
          <a:bodyPr wrap="square" lIns="0" tIns="0" rIns="0" bIns="0" rtlCol="0" anchor="ctr"/>
          <a:lstStyle/>
          <a:p>
            <a:pPr algn="ctr" indent="0" marL="0">
              <a:buNone/>
            </a:pPr>
            <a:r>
              <a:rPr lang="en-US" sz="2000" b="1" dirty="0">
                <a:solidFill>
                  <a:srgbClr val="060C18"/>
                </a:solidFill>
                <a:latin typeface="Segoe UI" pitchFamily="34" charset="0"/>
                <a:ea typeface="Segoe UI" pitchFamily="34" charset="-122"/>
                <a:cs typeface="Segoe UI" pitchFamily="34" charset="-120"/>
              </a:rPr>
              <a:t>5</a:t>
            </a:r>
            <a:endParaRPr lang="en-US" sz="2000" dirty="0"/>
          </a:p>
        </p:txBody>
      </p:sp>
      <p:sp>
        <p:nvSpPr>
          <p:cNvPr id="47" name="Text 40"/>
          <p:cNvSpPr txBox="1"/>
          <p:nvPr/>
        </p:nvSpPr>
        <p:spPr>
          <a:xfrm>
            <a:off x="9784080" y="4572000"/>
            <a:ext cx="1783080" cy="914400"/>
          </a:xfrm>
          <a:prstGeom prst="rect">
            <a:avLst/>
          </a:prstGeom>
          <a:noFill/>
          <a:ln/>
        </p:spPr>
        <p:txBody>
          <a:bodyPr wrap="square" lIns="0" tIns="0" rIns="0" bIns="0" rtlCol="0" anchor="t"/>
          <a:lstStyle/>
          <a:p>
            <a:pPr indent="0" marL="0">
              <a:buNone/>
            </a:pPr>
            <a:r>
              <a:rPr lang="en-US" sz="1400" b="1" dirty="0">
                <a:solidFill>
                  <a:srgbClr val="E9F2FF"/>
                </a:solidFill>
                <a:latin typeface="Segoe UI" pitchFamily="34" charset="0"/>
                <a:ea typeface="Segoe UI" pitchFamily="34" charset="-122"/>
                <a:cs typeface="Segoe UI" pitchFamily="34" charset="-120"/>
              </a:rPr>
              <a:t>Build interactive Power BI dashboard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Dataset &amp; Features</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EVCharge_Intelligence_Dataset.csv  |  12,000 records × 15 columns</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3 / 11</a:t>
            </a:r>
            <a:endParaRPr lang="en-US" sz="1000" dirty="0"/>
          </a:p>
        </p:txBody>
      </p:sp>
      <p:sp>
        <p:nvSpPr>
          <p:cNvPr id="7" name="Shape 4"/>
          <p:cNvSpPr/>
          <p:nvPr/>
        </p:nvSpPr>
        <p:spPr>
          <a:xfrm>
            <a:off x="457200" y="1325880"/>
            <a:ext cx="2103120" cy="914400"/>
          </a:xfrm>
          <a:prstGeom prst="roundRect">
            <a:avLst>
              <a:gd name="adj" fmla="val 10000"/>
            </a:avLst>
          </a:prstGeom>
          <a:solidFill>
            <a:srgbClr val="0D1A2E"/>
          </a:solidFill>
          <a:ln w="12700">
            <a:solidFill>
              <a:srgbClr val="2DD4BF"/>
            </a:solidFill>
            <a:prstDash val="solid"/>
          </a:ln>
        </p:spPr>
      </p:sp>
      <p:sp>
        <p:nvSpPr>
          <p:cNvPr id="8" name="Text 5"/>
          <p:cNvSpPr txBox="1"/>
          <p:nvPr/>
        </p:nvSpPr>
        <p:spPr>
          <a:xfrm>
            <a:off x="640080" y="1389888"/>
            <a:ext cx="1828800" cy="502920"/>
          </a:xfrm>
          <a:prstGeom prst="rect">
            <a:avLst/>
          </a:prstGeom>
          <a:noFill/>
          <a:ln/>
        </p:spPr>
        <p:txBody>
          <a:bodyPr wrap="square" lIns="0" tIns="0" rIns="0" bIns="0" rtlCol="0" anchor="t"/>
          <a:lstStyle/>
          <a:p>
            <a:pPr indent="0" marL="0">
              <a:buNone/>
            </a:pPr>
            <a:r>
              <a:rPr lang="en-US" sz="2600" b="1" dirty="0">
                <a:solidFill>
                  <a:srgbClr val="2DD4BF"/>
                </a:solidFill>
                <a:latin typeface="Segoe UI" pitchFamily="34" charset="0"/>
                <a:ea typeface="Segoe UI" pitchFamily="34" charset="-122"/>
                <a:cs typeface="Segoe UI" pitchFamily="34" charset="-120"/>
              </a:rPr>
              <a:t>12,000</a:t>
            </a:r>
            <a:endParaRPr lang="en-US" sz="2600" dirty="0"/>
          </a:p>
        </p:txBody>
      </p:sp>
      <p:sp>
        <p:nvSpPr>
          <p:cNvPr id="9" name="Text 6"/>
          <p:cNvSpPr txBox="1"/>
          <p:nvPr/>
        </p:nvSpPr>
        <p:spPr>
          <a:xfrm>
            <a:off x="640080" y="1874520"/>
            <a:ext cx="182880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Records</a:t>
            </a:r>
            <a:endParaRPr lang="en-US" sz="1100" dirty="0"/>
          </a:p>
        </p:txBody>
      </p:sp>
      <p:sp>
        <p:nvSpPr>
          <p:cNvPr id="10" name="Shape 7"/>
          <p:cNvSpPr/>
          <p:nvPr/>
        </p:nvSpPr>
        <p:spPr>
          <a:xfrm>
            <a:off x="2743200" y="1325880"/>
            <a:ext cx="2103120" cy="914400"/>
          </a:xfrm>
          <a:prstGeom prst="roundRect">
            <a:avLst>
              <a:gd name="adj" fmla="val 10000"/>
            </a:avLst>
          </a:prstGeom>
          <a:solidFill>
            <a:srgbClr val="0D1A2E"/>
          </a:solidFill>
          <a:ln w="12700">
            <a:solidFill>
              <a:srgbClr val="4F8CFF"/>
            </a:solidFill>
            <a:prstDash val="solid"/>
          </a:ln>
        </p:spPr>
      </p:sp>
      <p:sp>
        <p:nvSpPr>
          <p:cNvPr id="11" name="Text 8"/>
          <p:cNvSpPr txBox="1"/>
          <p:nvPr/>
        </p:nvSpPr>
        <p:spPr>
          <a:xfrm>
            <a:off x="2926080" y="1389888"/>
            <a:ext cx="1828800" cy="502920"/>
          </a:xfrm>
          <a:prstGeom prst="rect">
            <a:avLst/>
          </a:prstGeom>
          <a:noFill/>
          <a:ln/>
        </p:spPr>
        <p:txBody>
          <a:bodyPr wrap="square" lIns="0" tIns="0" rIns="0" bIns="0" rtlCol="0" anchor="t"/>
          <a:lstStyle/>
          <a:p>
            <a:pPr indent="0" marL="0">
              <a:buNone/>
            </a:pPr>
            <a:r>
              <a:rPr lang="en-US" sz="2600" b="1" dirty="0">
                <a:solidFill>
                  <a:srgbClr val="4F8CFF"/>
                </a:solidFill>
                <a:latin typeface="Segoe UI" pitchFamily="34" charset="0"/>
                <a:ea typeface="Segoe UI" pitchFamily="34" charset="-122"/>
                <a:cs typeface="Segoe UI" pitchFamily="34" charset="-120"/>
              </a:rPr>
              <a:t>15</a:t>
            </a:r>
            <a:endParaRPr lang="en-US" sz="2600" dirty="0"/>
          </a:p>
        </p:txBody>
      </p:sp>
      <p:sp>
        <p:nvSpPr>
          <p:cNvPr id="12" name="Text 9"/>
          <p:cNvSpPr txBox="1"/>
          <p:nvPr/>
        </p:nvSpPr>
        <p:spPr>
          <a:xfrm>
            <a:off x="2926080" y="1874520"/>
            <a:ext cx="182880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Raw columns</a:t>
            </a:r>
            <a:endParaRPr lang="en-US" sz="1100" dirty="0"/>
          </a:p>
        </p:txBody>
      </p:sp>
      <p:sp>
        <p:nvSpPr>
          <p:cNvPr id="13" name="Shape 10"/>
          <p:cNvSpPr/>
          <p:nvPr/>
        </p:nvSpPr>
        <p:spPr>
          <a:xfrm>
            <a:off x="5029200" y="1325880"/>
            <a:ext cx="2103120" cy="914400"/>
          </a:xfrm>
          <a:prstGeom prst="roundRect">
            <a:avLst>
              <a:gd name="adj" fmla="val 10000"/>
            </a:avLst>
          </a:prstGeom>
          <a:solidFill>
            <a:srgbClr val="0D1A2E"/>
          </a:solidFill>
          <a:ln w="12700">
            <a:solidFill>
              <a:srgbClr val="22C55E"/>
            </a:solidFill>
            <a:prstDash val="solid"/>
          </a:ln>
        </p:spPr>
      </p:sp>
      <p:sp>
        <p:nvSpPr>
          <p:cNvPr id="14" name="Text 11"/>
          <p:cNvSpPr txBox="1"/>
          <p:nvPr/>
        </p:nvSpPr>
        <p:spPr>
          <a:xfrm>
            <a:off x="5212080" y="1389888"/>
            <a:ext cx="1828800" cy="502920"/>
          </a:xfrm>
          <a:prstGeom prst="rect">
            <a:avLst/>
          </a:prstGeom>
          <a:noFill/>
          <a:ln/>
        </p:spPr>
        <p:txBody>
          <a:bodyPr wrap="square" lIns="0" tIns="0" rIns="0" bIns="0" rtlCol="0" anchor="t"/>
          <a:lstStyle/>
          <a:p>
            <a:pPr indent="0" marL="0">
              <a:buNone/>
            </a:pPr>
            <a:r>
              <a:rPr lang="en-US" sz="2600" b="1" dirty="0">
                <a:solidFill>
                  <a:srgbClr val="22C55E"/>
                </a:solidFill>
                <a:latin typeface="Segoe UI" pitchFamily="34" charset="0"/>
                <a:ea typeface="Segoe UI" pitchFamily="34" charset="-122"/>
                <a:cs typeface="Segoe UI" pitchFamily="34" charset="-120"/>
              </a:rPr>
              <a:t>6</a:t>
            </a:r>
            <a:endParaRPr lang="en-US" sz="2600" dirty="0"/>
          </a:p>
        </p:txBody>
      </p:sp>
      <p:sp>
        <p:nvSpPr>
          <p:cNvPr id="15" name="Text 12"/>
          <p:cNvSpPr txBox="1"/>
          <p:nvPr/>
        </p:nvSpPr>
        <p:spPr>
          <a:xfrm>
            <a:off x="5212080" y="1874520"/>
            <a:ext cx="182880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Cities</a:t>
            </a:r>
            <a:endParaRPr lang="en-US" sz="1100" dirty="0"/>
          </a:p>
        </p:txBody>
      </p:sp>
      <p:sp>
        <p:nvSpPr>
          <p:cNvPr id="16" name="Shape 13"/>
          <p:cNvSpPr/>
          <p:nvPr/>
        </p:nvSpPr>
        <p:spPr>
          <a:xfrm>
            <a:off x="7315200" y="1325880"/>
            <a:ext cx="2103120" cy="914400"/>
          </a:xfrm>
          <a:prstGeom prst="roundRect">
            <a:avLst>
              <a:gd name="adj" fmla="val 10000"/>
            </a:avLst>
          </a:prstGeom>
          <a:solidFill>
            <a:srgbClr val="0D1A2E"/>
          </a:solidFill>
          <a:ln w="12700">
            <a:solidFill>
              <a:srgbClr val="F59E0B"/>
            </a:solidFill>
            <a:prstDash val="solid"/>
          </a:ln>
        </p:spPr>
      </p:sp>
      <p:sp>
        <p:nvSpPr>
          <p:cNvPr id="17" name="Text 14"/>
          <p:cNvSpPr txBox="1"/>
          <p:nvPr/>
        </p:nvSpPr>
        <p:spPr>
          <a:xfrm>
            <a:off x="7498080" y="1389888"/>
            <a:ext cx="1828800" cy="502920"/>
          </a:xfrm>
          <a:prstGeom prst="rect">
            <a:avLst/>
          </a:prstGeom>
          <a:noFill/>
          <a:ln/>
        </p:spPr>
        <p:txBody>
          <a:bodyPr wrap="square" lIns="0" tIns="0" rIns="0" bIns="0" rtlCol="0" anchor="t"/>
          <a:lstStyle/>
          <a:p>
            <a:pPr indent="0" marL="0">
              <a:buNone/>
            </a:pPr>
            <a:r>
              <a:rPr lang="en-US" sz="2600" b="1" dirty="0">
                <a:solidFill>
                  <a:srgbClr val="F59E0B"/>
                </a:solidFill>
                <a:latin typeface="Segoe UI" pitchFamily="34" charset="0"/>
                <a:ea typeface="Segoe UI" pitchFamily="34" charset="-122"/>
                <a:cs typeface="Segoe UI" pitchFamily="34" charset="-120"/>
              </a:rPr>
              <a:t>24</a:t>
            </a:r>
            <a:endParaRPr lang="en-US" sz="2600" dirty="0"/>
          </a:p>
        </p:txBody>
      </p:sp>
      <p:sp>
        <p:nvSpPr>
          <p:cNvPr id="18" name="Text 15"/>
          <p:cNvSpPr txBox="1"/>
          <p:nvPr/>
        </p:nvSpPr>
        <p:spPr>
          <a:xfrm>
            <a:off x="7498080" y="1874520"/>
            <a:ext cx="182880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Stations</a:t>
            </a:r>
            <a:endParaRPr lang="en-US" sz="1100" dirty="0"/>
          </a:p>
        </p:txBody>
      </p:sp>
      <p:sp>
        <p:nvSpPr>
          <p:cNvPr id="19" name="Shape 16"/>
          <p:cNvSpPr/>
          <p:nvPr/>
        </p:nvSpPr>
        <p:spPr>
          <a:xfrm>
            <a:off x="9601200" y="1325880"/>
            <a:ext cx="2103120" cy="914400"/>
          </a:xfrm>
          <a:prstGeom prst="roundRect">
            <a:avLst>
              <a:gd name="adj" fmla="val 10000"/>
            </a:avLst>
          </a:prstGeom>
          <a:solidFill>
            <a:srgbClr val="0D1A2E"/>
          </a:solidFill>
          <a:ln w="12700">
            <a:solidFill>
              <a:srgbClr val="EF4444"/>
            </a:solidFill>
            <a:prstDash val="solid"/>
          </a:ln>
        </p:spPr>
      </p:sp>
      <p:sp>
        <p:nvSpPr>
          <p:cNvPr id="20" name="Text 17"/>
          <p:cNvSpPr txBox="1"/>
          <p:nvPr/>
        </p:nvSpPr>
        <p:spPr>
          <a:xfrm>
            <a:off x="9784080" y="1389888"/>
            <a:ext cx="1828800" cy="502920"/>
          </a:xfrm>
          <a:prstGeom prst="rect">
            <a:avLst/>
          </a:prstGeom>
          <a:noFill/>
          <a:ln/>
        </p:spPr>
        <p:txBody>
          <a:bodyPr wrap="square" lIns="0" tIns="0" rIns="0" bIns="0" rtlCol="0" anchor="t"/>
          <a:lstStyle/>
          <a:p>
            <a:pPr indent="0" marL="0">
              <a:buNone/>
            </a:pPr>
            <a:r>
              <a:rPr lang="en-US" sz="2600" b="1" dirty="0">
                <a:solidFill>
                  <a:srgbClr val="EF4444"/>
                </a:solidFill>
                <a:latin typeface="Segoe UI" pitchFamily="34" charset="0"/>
                <a:ea typeface="Segoe UI" pitchFamily="34" charset="-122"/>
                <a:cs typeface="Segoe UI" pitchFamily="34" charset="-120"/>
              </a:rPr>
              <a:t>0</a:t>
            </a:r>
            <a:endParaRPr lang="en-US" sz="2600" dirty="0"/>
          </a:p>
        </p:txBody>
      </p:sp>
      <p:sp>
        <p:nvSpPr>
          <p:cNvPr id="21" name="Text 18"/>
          <p:cNvSpPr txBox="1"/>
          <p:nvPr/>
        </p:nvSpPr>
        <p:spPr>
          <a:xfrm>
            <a:off x="9784080" y="1874520"/>
            <a:ext cx="182880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Missing / duplicates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11247120" cy="914400"/>
        </p:xfrm>
        <a:graphic>
          <a:graphicData uri="http://schemas.openxmlformats.org/drawingml/2006/table">
            <a:tbl>
              <a:tblPr/>
              <a:tblGrid>
                <a:gridCol w="1737360"/>
                <a:gridCol w="1005840"/>
                <a:gridCol w="1005840"/>
                <a:gridCol w="1005840"/>
                <a:gridCol w="1371600"/>
                <a:gridCol w="868680"/>
                <a:gridCol w="822960"/>
                <a:gridCol w="1188720"/>
                <a:gridCol w="1005840"/>
                <a:gridCol w="1234440"/>
              </a:tblGrid>
              <a:tr h="310896">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Timestamp</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Station_ID</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City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Connector</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Vehicle</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Weather</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Traffic</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Energy_kWh</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Pred_kWh</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indent="0" marL="0">
                        <a:buNone/>
                      </a:pPr>
                      <a:r>
                        <a:rPr lang="en-US" sz="1000" b="1" dirty="0">
                          <a:solidFill>
                            <a:srgbClr val="2DD4BF"/>
                          </a:solidFill>
                          <a:latin typeface="Segoe UI" pitchFamily="34" charset="0"/>
                          <a:ea typeface="Segoe UI" pitchFamily="34" charset="-122"/>
                          <a:cs typeface="Segoe UI" pitchFamily="34" charset="-120"/>
                        </a:rPr>
                        <a:t>Pred_Cong.</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r>
              <a:tr h="310896">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2025-03-16 10:15:00</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CHE-ST-03</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Chennai</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DC Fast</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Electric Taxi</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Sunny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Low</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17.89</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21.15</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310896">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2025-05-21 00:29:00</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CHE-ST-04</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Chennai</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AC</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Sedan EV</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Sunny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13.09</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13.27</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Low</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310896">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2025-09-27 13:22:00</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BEN-ST-02</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Bengaluru</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AC</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SUV EV</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Rainy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16.29</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17.27</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310896">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2025-08-25 03:15:00</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BEN-ST-04</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Bengaluru</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AC</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Hatchback EV</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Rainy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12.32</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11.64</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Low</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310896">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2025-12-30 12:41:00</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BEN-ST-03</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Bengaluru</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AC</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SUV EV</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Stormy</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Medium</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19.68</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19.64</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indent="0" marL="0">
                        <a:buNone/>
                      </a:pPr>
                      <a:r>
                        <a:rPr lang="en-US" sz="1000" dirty="0">
                          <a:solidFill>
                            <a:srgbClr val="E9F2FF"/>
                          </a:solidFill>
                          <a:latin typeface="Segoe UI" pitchFamily="34" charset="0"/>
                          <a:ea typeface="Segoe UI" pitchFamily="34" charset="-122"/>
                          <a:cs typeface="Segoe UI" pitchFamily="34" charset="-120"/>
                        </a:rPr>
                        <a:t>Low</a:t>
                      </a:r>
                      <a:endParaRPr lang="en-US" sz="1000" dirty="0">
                        <a:latin typeface="Segoe UI" charset="0"/>
                        <a:ea typeface="Segoe UI" charset="0"/>
                        <a:cs typeface="Segoe UI" charset="0"/>
                      </a:endParaRPr>
                    </a:p>
                  </a:txBody>
                  <a:tcPr marL="45720" marR="45720" marT="45720" marB="45720" anchor="ctr">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bl>
          </a:graphicData>
        </a:graphic>
      </p:graphicFrame>
      <p:sp>
        <p:nvSpPr>
          <p:cNvPr id="23" name="Shape 19"/>
          <p:cNvSpPr/>
          <p:nvPr/>
        </p:nvSpPr>
        <p:spPr>
          <a:xfrm>
            <a:off x="457200" y="4526280"/>
            <a:ext cx="5486400" cy="1691640"/>
          </a:xfrm>
          <a:prstGeom prst="roundRect">
            <a:avLst>
              <a:gd name="adj" fmla="val 5405"/>
            </a:avLst>
          </a:prstGeom>
          <a:solidFill>
            <a:srgbClr val="0D1A2E"/>
          </a:solidFill>
          <a:ln w="12700">
            <a:solidFill>
              <a:srgbClr val="1C2F50"/>
            </a:solidFill>
            <a:prstDash val="solid"/>
          </a:ln>
        </p:spPr>
      </p:sp>
      <p:sp>
        <p:nvSpPr>
          <p:cNvPr id="24" name="Text 20"/>
          <p:cNvSpPr txBox="1"/>
          <p:nvPr/>
        </p:nvSpPr>
        <p:spPr>
          <a:xfrm>
            <a:off x="640080" y="4617720"/>
            <a:ext cx="45720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INPUT FEATURES</a:t>
            </a:r>
            <a:endParaRPr lang="en-US" sz="1100" dirty="0"/>
          </a:p>
        </p:txBody>
      </p:sp>
      <p:sp>
        <p:nvSpPr>
          <p:cNvPr id="25" name="Text 21"/>
          <p:cNvSpPr txBox="1"/>
          <p:nvPr/>
        </p:nvSpPr>
        <p:spPr>
          <a:xfrm>
            <a:off x="640080" y="4937760"/>
            <a:ext cx="5120640" cy="11887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Timestamp, Station_ID, City, Connector_Type, Vehicle_Type, Temperature_C, Weather, Traffic_Level, Electricity_Price, Occupancy_Rate, Queue_Length, Energy_Demand_kWh, Customer_Rating, Feedback_Text, Customer_Sentiment</a:t>
            </a:r>
            <a:endParaRPr lang="en-US" sz="1200" dirty="0"/>
          </a:p>
        </p:txBody>
      </p:sp>
      <p:sp>
        <p:nvSpPr>
          <p:cNvPr id="26" name="Shape 22"/>
          <p:cNvSpPr/>
          <p:nvPr/>
        </p:nvSpPr>
        <p:spPr>
          <a:xfrm>
            <a:off x="6126480" y="4526280"/>
            <a:ext cx="5577840" cy="1691640"/>
          </a:xfrm>
          <a:prstGeom prst="roundRect">
            <a:avLst>
              <a:gd name="adj" fmla="val 5405"/>
            </a:avLst>
          </a:prstGeom>
          <a:solidFill>
            <a:srgbClr val="0D1A2E"/>
          </a:solidFill>
          <a:ln w="12700">
            <a:solidFill>
              <a:srgbClr val="1C2F50"/>
            </a:solidFill>
            <a:prstDash val="solid"/>
          </a:ln>
        </p:spPr>
      </p:sp>
      <p:sp>
        <p:nvSpPr>
          <p:cNvPr id="27" name="Text 23"/>
          <p:cNvSpPr txBox="1"/>
          <p:nvPr/>
        </p:nvSpPr>
        <p:spPr>
          <a:xfrm>
            <a:off x="6309360" y="4617720"/>
            <a:ext cx="45720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PREDICTION / OUTPUT FIELDS</a:t>
            </a:r>
            <a:endParaRPr lang="en-US" sz="1100" dirty="0"/>
          </a:p>
        </p:txBody>
      </p:sp>
      <p:sp>
        <p:nvSpPr>
          <p:cNvPr id="28" name="Text 24"/>
          <p:cNvSpPr txBox="1"/>
          <p:nvPr/>
        </p:nvSpPr>
        <p:spPr>
          <a:xfrm>
            <a:off x="6309360" y="4937760"/>
            <a:ext cx="5212080" cy="11887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Predicted_Demand_kWh, Demand_Error_kWh, Absolute_Demand_Error_kWh, Demand_Risk, Congestion_Level, Predicted_Congestion, Congestion_Correct, Rating_Sentiment, Feedback_Length + Year, Month, Day, Hour, DayOfWeek, Day_Name, IsWeekend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Data Preprocessing &amp; Feature Engineering</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As implemented in the project notebook</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4 / 11</a:t>
            </a:r>
            <a:endParaRPr lang="en-US" sz="1000" dirty="0"/>
          </a:p>
        </p:txBody>
      </p:sp>
      <p:sp>
        <p:nvSpPr>
          <p:cNvPr id="7" name="Shape 4"/>
          <p:cNvSpPr/>
          <p:nvPr/>
        </p:nvSpPr>
        <p:spPr>
          <a:xfrm>
            <a:off x="457200" y="1371600"/>
            <a:ext cx="1691640" cy="868680"/>
          </a:xfrm>
          <a:prstGeom prst="roundRect">
            <a:avLst>
              <a:gd name="adj" fmla="val 10526"/>
            </a:avLst>
          </a:prstGeom>
          <a:solidFill>
            <a:srgbClr val="0D1A2E"/>
          </a:solidFill>
          <a:ln w="12700">
            <a:solidFill>
              <a:srgbClr val="4F8CFF"/>
            </a:solidFill>
            <a:prstDash val="solid"/>
          </a:ln>
        </p:spPr>
      </p:sp>
      <p:sp>
        <p:nvSpPr>
          <p:cNvPr id="8" name="Text 5"/>
          <p:cNvSpPr txBox="1"/>
          <p:nvPr/>
        </p:nvSpPr>
        <p:spPr>
          <a:xfrm>
            <a:off x="548640"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Raw Dataset</a:t>
            </a:r>
            <a:endParaRPr lang="en-US" sz="1200" dirty="0"/>
          </a:p>
        </p:txBody>
      </p:sp>
      <p:sp>
        <p:nvSpPr>
          <p:cNvPr id="9" name="Text 6"/>
          <p:cNvSpPr txBox="1"/>
          <p:nvPr/>
        </p:nvSpPr>
        <p:spPr>
          <a:xfrm>
            <a:off x="2148840" y="1554480"/>
            <a:ext cx="210312" cy="457200"/>
          </a:xfrm>
          <a:prstGeom prst="rect">
            <a:avLst/>
          </a:prstGeom>
          <a:noFill/>
          <a:ln/>
        </p:spPr>
        <p:txBody>
          <a:bodyPr wrap="square" lIns="0" tIns="0" rIns="0" bIns="0" rtlCol="0" anchor="ctr"/>
          <a:lstStyle/>
          <a:p>
            <a:pPr algn="ctr" indent="0" marL="0">
              <a:buNone/>
            </a:pPr>
            <a:r>
              <a:rPr lang="en-US" sz="2000" dirty="0">
                <a:solidFill>
                  <a:srgbClr val="8FA4C6"/>
                </a:solidFill>
                <a:latin typeface="Segoe UI" pitchFamily="34" charset="0"/>
                <a:ea typeface="Segoe UI" pitchFamily="34" charset="-122"/>
                <a:cs typeface="Segoe UI" pitchFamily="34" charset="-120"/>
              </a:rPr>
              <a:t>›</a:t>
            </a:r>
            <a:endParaRPr lang="en-US" sz="2000" dirty="0"/>
          </a:p>
        </p:txBody>
      </p:sp>
      <p:sp>
        <p:nvSpPr>
          <p:cNvPr id="10" name="Shape 7"/>
          <p:cNvSpPr/>
          <p:nvPr/>
        </p:nvSpPr>
        <p:spPr>
          <a:xfrm>
            <a:off x="2359152" y="1371600"/>
            <a:ext cx="1691640" cy="868680"/>
          </a:xfrm>
          <a:prstGeom prst="roundRect">
            <a:avLst>
              <a:gd name="adj" fmla="val 10526"/>
            </a:avLst>
          </a:prstGeom>
          <a:solidFill>
            <a:srgbClr val="0D1A2E"/>
          </a:solidFill>
          <a:ln w="12700">
            <a:solidFill>
              <a:srgbClr val="4F8CFF"/>
            </a:solidFill>
            <a:prstDash val="solid"/>
          </a:ln>
        </p:spPr>
      </p:sp>
      <p:sp>
        <p:nvSpPr>
          <p:cNvPr id="11" name="Text 8"/>
          <p:cNvSpPr txBox="1"/>
          <p:nvPr/>
        </p:nvSpPr>
        <p:spPr>
          <a:xfrm>
            <a:off x="2450592"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Data Cleaning</a:t>
            </a:r>
            <a:endParaRPr lang="en-US" sz="1200" dirty="0"/>
          </a:p>
        </p:txBody>
      </p:sp>
      <p:sp>
        <p:nvSpPr>
          <p:cNvPr id="12" name="Text 9"/>
          <p:cNvSpPr txBox="1"/>
          <p:nvPr/>
        </p:nvSpPr>
        <p:spPr>
          <a:xfrm>
            <a:off x="4050792" y="1554480"/>
            <a:ext cx="210312" cy="457200"/>
          </a:xfrm>
          <a:prstGeom prst="rect">
            <a:avLst/>
          </a:prstGeom>
          <a:noFill/>
          <a:ln/>
        </p:spPr>
        <p:txBody>
          <a:bodyPr wrap="square" lIns="0" tIns="0" rIns="0" bIns="0" rtlCol="0" anchor="ctr"/>
          <a:lstStyle/>
          <a:p>
            <a:pPr algn="ctr" indent="0" marL="0">
              <a:buNone/>
            </a:pPr>
            <a:r>
              <a:rPr lang="en-US" sz="2000" dirty="0">
                <a:solidFill>
                  <a:srgbClr val="8FA4C6"/>
                </a:solidFill>
                <a:latin typeface="Segoe UI" pitchFamily="34" charset="0"/>
                <a:ea typeface="Segoe UI" pitchFamily="34" charset="-122"/>
                <a:cs typeface="Segoe UI" pitchFamily="34" charset="-120"/>
              </a:rPr>
              <a:t>›</a:t>
            </a:r>
            <a:endParaRPr lang="en-US" sz="2000" dirty="0"/>
          </a:p>
        </p:txBody>
      </p:sp>
      <p:sp>
        <p:nvSpPr>
          <p:cNvPr id="13" name="Shape 10"/>
          <p:cNvSpPr/>
          <p:nvPr/>
        </p:nvSpPr>
        <p:spPr>
          <a:xfrm>
            <a:off x="4261104" y="1371600"/>
            <a:ext cx="1691640" cy="868680"/>
          </a:xfrm>
          <a:prstGeom prst="roundRect">
            <a:avLst>
              <a:gd name="adj" fmla="val 10526"/>
            </a:avLst>
          </a:prstGeom>
          <a:solidFill>
            <a:srgbClr val="0D1A2E"/>
          </a:solidFill>
          <a:ln w="12700">
            <a:solidFill>
              <a:srgbClr val="2DD4BF"/>
            </a:solidFill>
            <a:prstDash val="solid"/>
          </a:ln>
        </p:spPr>
      </p:sp>
      <p:sp>
        <p:nvSpPr>
          <p:cNvPr id="14" name="Text 11"/>
          <p:cNvSpPr txBox="1"/>
          <p:nvPr/>
        </p:nvSpPr>
        <p:spPr>
          <a:xfrm>
            <a:off x="4352544"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Missing Value Treatment</a:t>
            </a:r>
            <a:endParaRPr lang="en-US" sz="1200" dirty="0"/>
          </a:p>
        </p:txBody>
      </p:sp>
      <p:sp>
        <p:nvSpPr>
          <p:cNvPr id="15" name="Text 12"/>
          <p:cNvSpPr txBox="1"/>
          <p:nvPr/>
        </p:nvSpPr>
        <p:spPr>
          <a:xfrm>
            <a:off x="5952744" y="1554480"/>
            <a:ext cx="210312" cy="457200"/>
          </a:xfrm>
          <a:prstGeom prst="rect">
            <a:avLst/>
          </a:prstGeom>
          <a:noFill/>
          <a:ln/>
        </p:spPr>
        <p:txBody>
          <a:bodyPr wrap="square" lIns="0" tIns="0" rIns="0" bIns="0" rtlCol="0" anchor="ctr"/>
          <a:lstStyle/>
          <a:p>
            <a:pPr algn="ctr" indent="0" marL="0">
              <a:buNone/>
            </a:pPr>
            <a:r>
              <a:rPr lang="en-US" sz="2000" dirty="0">
                <a:solidFill>
                  <a:srgbClr val="8FA4C6"/>
                </a:solidFill>
                <a:latin typeface="Segoe UI" pitchFamily="34" charset="0"/>
                <a:ea typeface="Segoe UI" pitchFamily="34" charset="-122"/>
                <a:cs typeface="Segoe UI" pitchFamily="34" charset="-120"/>
              </a:rPr>
              <a:t>›</a:t>
            </a:r>
            <a:endParaRPr lang="en-US" sz="2000" dirty="0"/>
          </a:p>
        </p:txBody>
      </p:sp>
      <p:sp>
        <p:nvSpPr>
          <p:cNvPr id="16" name="Shape 13"/>
          <p:cNvSpPr/>
          <p:nvPr/>
        </p:nvSpPr>
        <p:spPr>
          <a:xfrm>
            <a:off x="6163056" y="1371600"/>
            <a:ext cx="1691640" cy="868680"/>
          </a:xfrm>
          <a:prstGeom prst="roundRect">
            <a:avLst>
              <a:gd name="adj" fmla="val 10526"/>
            </a:avLst>
          </a:prstGeom>
          <a:solidFill>
            <a:srgbClr val="0D1A2E"/>
          </a:solidFill>
          <a:ln w="12700">
            <a:solidFill>
              <a:srgbClr val="2DD4BF"/>
            </a:solidFill>
            <a:prstDash val="solid"/>
          </a:ln>
        </p:spPr>
      </p:sp>
      <p:sp>
        <p:nvSpPr>
          <p:cNvPr id="17" name="Text 14"/>
          <p:cNvSpPr txBox="1"/>
          <p:nvPr/>
        </p:nvSpPr>
        <p:spPr>
          <a:xfrm>
            <a:off x="6254496"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Feature Engineering</a:t>
            </a:r>
            <a:endParaRPr lang="en-US" sz="1200" dirty="0"/>
          </a:p>
        </p:txBody>
      </p:sp>
      <p:sp>
        <p:nvSpPr>
          <p:cNvPr id="18" name="Text 15"/>
          <p:cNvSpPr txBox="1"/>
          <p:nvPr/>
        </p:nvSpPr>
        <p:spPr>
          <a:xfrm>
            <a:off x="7854696" y="1554480"/>
            <a:ext cx="210312" cy="457200"/>
          </a:xfrm>
          <a:prstGeom prst="rect">
            <a:avLst/>
          </a:prstGeom>
          <a:noFill/>
          <a:ln/>
        </p:spPr>
        <p:txBody>
          <a:bodyPr wrap="square" lIns="0" tIns="0" rIns="0" bIns="0" rtlCol="0" anchor="ctr"/>
          <a:lstStyle/>
          <a:p>
            <a:pPr algn="ctr" indent="0" marL="0">
              <a:buNone/>
            </a:pPr>
            <a:r>
              <a:rPr lang="en-US" sz="2000" dirty="0">
                <a:solidFill>
                  <a:srgbClr val="8FA4C6"/>
                </a:solidFill>
                <a:latin typeface="Segoe UI" pitchFamily="34" charset="0"/>
                <a:ea typeface="Segoe UI" pitchFamily="34" charset="-122"/>
                <a:cs typeface="Segoe UI" pitchFamily="34" charset="-120"/>
              </a:rPr>
              <a:t>›</a:t>
            </a:r>
            <a:endParaRPr lang="en-US" sz="2000" dirty="0"/>
          </a:p>
        </p:txBody>
      </p:sp>
      <p:sp>
        <p:nvSpPr>
          <p:cNvPr id="19" name="Shape 16"/>
          <p:cNvSpPr/>
          <p:nvPr/>
        </p:nvSpPr>
        <p:spPr>
          <a:xfrm>
            <a:off x="8065008" y="1371600"/>
            <a:ext cx="1691640" cy="868680"/>
          </a:xfrm>
          <a:prstGeom prst="roundRect">
            <a:avLst>
              <a:gd name="adj" fmla="val 10526"/>
            </a:avLst>
          </a:prstGeom>
          <a:solidFill>
            <a:srgbClr val="0D1A2E"/>
          </a:solidFill>
          <a:ln w="12700">
            <a:solidFill>
              <a:srgbClr val="22C55E"/>
            </a:solidFill>
            <a:prstDash val="solid"/>
          </a:ln>
        </p:spPr>
      </p:sp>
      <p:sp>
        <p:nvSpPr>
          <p:cNvPr id="20" name="Text 17"/>
          <p:cNvSpPr txBox="1"/>
          <p:nvPr/>
        </p:nvSpPr>
        <p:spPr>
          <a:xfrm>
            <a:off x="8156448"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Encoding</a:t>
            </a:r>
            <a:endParaRPr lang="en-US" sz="1200" dirty="0"/>
          </a:p>
        </p:txBody>
      </p:sp>
      <p:sp>
        <p:nvSpPr>
          <p:cNvPr id="21" name="Text 18"/>
          <p:cNvSpPr txBox="1"/>
          <p:nvPr/>
        </p:nvSpPr>
        <p:spPr>
          <a:xfrm>
            <a:off x="9756648" y="1554480"/>
            <a:ext cx="210312" cy="457200"/>
          </a:xfrm>
          <a:prstGeom prst="rect">
            <a:avLst/>
          </a:prstGeom>
          <a:noFill/>
          <a:ln/>
        </p:spPr>
        <p:txBody>
          <a:bodyPr wrap="square" lIns="0" tIns="0" rIns="0" bIns="0" rtlCol="0" anchor="ctr"/>
          <a:lstStyle/>
          <a:p>
            <a:pPr algn="ctr" indent="0" marL="0">
              <a:buNone/>
            </a:pPr>
            <a:r>
              <a:rPr lang="en-US" sz="2000" dirty="0">
                <a:solidFill>
                  <a:srgbClr val="8FA4C6"/>
                </a:solidFill>
                <a:latin typeface="Segoe UI" pitchFamily="34" charset="0"/>
                <a:ea typeface="Segoe UI" pitchFamily="34" charset="-122"/>
                <a:cs typeface="Segoe UI" pitchFamily="34" charset="-120"/>
              </a:rPr>
              <a:t>›</a:t>
            </a:r>
            <a:endParaRPr lang="en-US" sz="2000" dirty="0"/>
          </a:p>
        </p:txBody>
      </p:sp>
      <p:sp>
        <p:nvSpPr>
          <p:cNvPr id="22" name="Shape 19"/>
          <p:cNvSpPr/>
          <p:nvPr/>
        </p:nvSpPr>
        <p:spPr>
          <a:xfrm>
            <a:off x="9966960" y="1371600"/>
            <a:ext cx="1691640" cy="868680"/>
          </a:xfrm>
          <a:prstGeom prst="roundRect">
            <a:avLst>
              <a:gd name="adj" fmla="val 10526"/>
            </a:avLst>
          </a:prstGeom>
          <a:solidFill>
            <a:srgbClr val="0D1A2E"/>
          </a:solidFill>
          <a:ln w="12700">
            <a:solidFill>
              <a:srgbClr val="22C55E"/>
            </a:solidFill>
            <a:prstDash val="solid"/>
          </a:ln>
        </p:spPr>
      </p:sp>
      <p:sp>
        <p:nvSpPr>
          <p:cNvPr id="23" name="Text 20"/>
          <p:cNvSpPr txBox="1"/>
          <p:nvPr/>
        </p:nvSpPr>
        <p:spPr>
          <a:xfrm>
            <a:off x="10058400" y="1371600"/>
            <a:ext cx="1508760" cy="868680"/>
          </a:xfrm>
          <a:prstGeom prst="rect">
            <a:avLst/>
          </a:prstGeom>
          <a:noFill/>
          <a:ln/>
        </p:spPr>
        <p:txBody>
          <a:bodyPr wrap="square" lIns="0" tIns="0" rIns="0" bIns="0" rtlCol="0" anchor="ctr"/>
          <a:lstStyle/>
          <a:p>
            <a:pPr algn="ctr" indent="0" marL="0">
              <a:buNone/>
            </a:pPr>
            <a:r>
              <a:rPr lang="en-US" sz="1200" b="1" dirty="0">
                <a:solidFill>
                  <a:srgbClr val="E9F2FF"/>
                </a:solidFill>
                <a:latin typeface="Segoe UI" pitchFamily="34" charset="0"/>
                <a:ea typeface="Segoe UI" pitchFamily="34" charset="-122"/>
                <a:cs typeface="Segoe UI" pitchFamily="34" charset="-120"/>
              </a:rPr>
              <a:t>Model-Ready Data</a:t>
            </a:r>
            <a:endParaRPr lang="en-US" sz="1200" dirty="0"/>
          </a:p>
        </p:txBody>
      </p:sp>
      <p:sp>
        <p:nvSpPr>
          <p:cNvPr id="24" name="Shape 21"/>
          <p:cNvSpPr/>
          <p:nvPr/>
        </p:nvSpPr>
        <p:spPr>
          <a:xfrm>
            <a:off x="457200" y="2514600"/>
            <a:ext cx="3657600" cy="3611880"/>
          </a:xfrm>
          <a:prstGeom prst="roundRect">
            <a:avLst>
              <a:gd name="adj" fmla="val 2532"/>
            </a:avLst>
          </a:prstGeom>
          <a:solidFill>
            <a:srgbClr val="0D1A2E"/>
          </a:solidFill>
          <a:ln w="12700">
            <a:solidFill>
              <a:srgbClr val="1C2F50"/>
            </a:solidFill>
            <a:prstDash val="solid"/>
          </a:ln>
        </p:spPr>
      </p:sp>
      <p:sp>
        <p:nvSpPr>
          <p:cNvPr id="25" name="Text 22"/>
          <p:cNvSpPr txBox="1"/>
          <p:nvPr/>
        </p:nvSpPr>
        <p:spPr>
          <a:xfrm>
            <a:off x="640080" y="2651760"/>
            <a:ext cx="329184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CLEANING &amp; MISSING VALUES</a:t>
            </a:r>
            <a:endParaRPr lang="en-US" sz="1100" dirty="0"/>
          </a:p>
        </p:txBody>
      </p:sp>
      <p:sp>
        <p:nvSpPr>
          <p:cNvPr id="26" name="Text 23"/>
          <p:cNvSpPr txBox="1"/>
          <p:nvPr/>
        </p:nvSpPr>
        <p:spPr>
          <a:xfrm>
            <a:off x="640080" y="3017520"/>
            <a:ext cx="3291840" cy="2926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Duplicates removed: 0 of 12,000</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Timestamp converted to datetime</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Numeric columns coerced; rows without timestamp/target dropped</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Numeric gaps → median; categorical → mode</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Remaining missing values: 0</a:t>
            </a:r>
            <a:endParaRPr lang="en-US" sz="1200" dirty="0"/>
          </a:p>
        </p:txBody>
      </p:sp>
      <p:sp>
        <p:nvSpPr>
          <p:cNvPr id="27" name="Shape 24"/>
          <p:cNvSpPr/>
          <p:nvPr/>
        </p:nvSpPr>
        <p:spPr>
          <a:xfrm>
            <a:off x="4297680" y="2514600"/>
            <a:ext cx="3657600" cy="3611880"/>
          </a:xfrm>
          <a:prstGeom prst="roundRect">
            <a:avLst>
              <a:gd name="adj" fmla="val 2532"/>
            </a:avLst>
          </a:prstGeom>
          <a:solidFill>
            <a:srgbClr val="0D1A2E"/>
          </a:solidFill>
          <a:ln w="12700">
            <a:solidFill>
              <a:srgbClr val="1C2F50"/>
            </a:solidFill>
            <a:prstDash val="solid"/>
          </a:ln>
        </p:spPr>
      </p:sp>
      <p:sp>
        <p:nvSpPr>
          <p:cNvPr id="28" name="Text 25"/>
          <p:cNvSpPr txBox="1"/>
          <p:nvPr/>
        </p:nvSpPr>
        <p:spPr>
          <a:xfrm>
            <a:off x="4480560" y="2651760"/>
            <a:ext cx="329184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FEATURE ENGINEERING</a:t>
            </a:r>
            <a:endParaRPr lang="en-US" sz="1100" dirty="0"/>
          </a:p>
        </p:txBody>
      </p:sp>
      <p:sp>
        <p:nvSpPr>
          <p:cNvPr id="29" name="Text 26"/>
          <p:cNvSpPr txBox="1"/>
          <p:nvPr/>
        </p:nvSpPr>
        <p:spPr>
          <a:xfrm>
            <a:off x="4480560" y="3017520"/>
            <a:ext cx="32918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Time: Year, Month, Day, Hour, DayOfWeek, IsWeekend, Day_Name</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Rating_Sentiment from Customer_Rating (≥4 Positive, 3 Neutral, ≤2 Negative)</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Feedback_Length from Feedback_Text</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Categorical features → LabelEncoder</a:t>
            </a:r>
            <a:endParaRPr lang="en-US" sz="1200" dirty="0"/>
          </a:p>
          <a:p>
            <a:pPr marL="342900" indent="-342900">
              <a:spcAft>
                <a:spcPts val="600"/>
              </a:spcAft>
              <a:buSzPct val="100000"/>
              <a:buChar char="•"/>
            </a:pPr>
            <a:r>
              <a:rPr lang="en-US" sz="1200" dirty="0">
                <a:solidFill>
                  <a:srgbClr val="E9F2FF"/>
                </a:solidFill>
                <a:latin typeface="Segoe UI" pitchFamily="34" charset="0"/>
                <a:ea typeface="Segoe UI" pitchFamily="34" charset="-122"/>
                <a:cs typeface="Segoe UI" pitchFamily="34" charset="-120"/>
              </a:rPr>
              <a:t>Occupancy &amp; Queue excluded as model inputs (avoids target leakage)</a:t>
            </a:r>
            <a:endParaRPr lang="en-US" sz="1200" dirty="0"/>
          </a:p>
        </p:txBody>
      </p:sp>
      <p:sp>
        <p:nvSpPr>
          <p:cNvPr id="30" name="Shape 27"/>
          <p:cNvSpPr/>
          <p:nvPr/>
        </p:nvSpPr>
        <p:spPr>
          <a:xfrm>
            <a:off x="8138160" y="2514600"/>
            <a:ext cx="3566160" cy="3611880"/>
          </a:xfrm>
          <a:prstGeom prst="roundRect">
            <a:avLst>
              <a:gd name="adj" fmla="val 2564"/>
            </a:avLst>
          </a:prstGeom>
          <a:solidFill>
            <a:srgbClr val="0D1A2E"/>
          </a:solidFill>
          <a:ln w="12700">
            <a:solidFill>
              <a:srgbClr val="F59E0B"/>
            </a:solidFill>
            <a:prstDash val="solid"/>
          </a:ln>
        </p:spPr>
      </p:sp>
      <p:sp>
        <p:nvSpPr>
          <p:cNvPr id="31" name="Text 28"/>
          <p:cNvSpPr txBox="1"/>
          <p:nvPr/>
        </p:nvSpPr>
        <p:spPr>
          <a:xfrm>
            <a:off x="8321040" y="2651760"/>
            <a:ext cx="3200400" cy="274320"/>
          </a:xfrm>
          <a:prstGeom prst="rect">
            <a:avLst/>
          </a:prstGeom>
          <a:noFill/>
          <a:ln/>
        </p:spPr>
        <p:txBody>
          <a:bodyPr wrap="square" lIns="0" tIns="0" rIns="0" bIns="0" rtlCol="0" anchor="t"/>
          <a:lstStyle/>
          <a:p>
            <a:pPr indent="0" marL="0">
              <a:buNone/>
            </a:pPr>
            <a:r>
              <a:rPr lang="en-US" sz="1100" b="1" spc="200" kern="0" dirty="0">
                <a:solidFill>
                  <a:srgbClr val="F59E0B"/>
                </a:solidFill>
                <a:latin typeface="Segoe UI" pitchFamily="34" charset="0"/>
                <a:ea typeface="Segoe UI" pitchFamily="34" charset="-122"/>
                <a:cs typeface="Segoe UI" pitchFamily="34" charset="-120"/>
              </a:rPr>
              <a:t>CONGESTION LOGIC (NOTEBOOK)</a:t>
            </a:r>
            <a:endParaRPr lang="en-US" sz="1100" dirty="0"/>
          </a:p>
        </p:txBody>
      </p:sp>
      <p:sp>
        <p:nvSpPr>
          <p:cNvPr id="32" name="Shape 29"/>
          <p:cNvSpPr/>
          <p:nvPr/>
        </p:nvSpPr>
        <p:spPr>
          <a:xfrm>
            <a:off x="8321040" y="3063240"/>
            <a:ext cx="3200400" cy="822960"/>
          </a:xfrm>
          <a:prstGeom prst="roundRect">
            <a:avLst>
              <a:gd name="adj" fmla="val 8889"/>
            </a:avLst>
          </a:prstGeom>
          <a:solidFill>
            <a:srgbClr val="060C18"/>
          </a:solidFill>
          <a:ln w="12700">
            <a:solidFill>
              <a:srgbClr val="EF4444"/>
            </a:solidFill>
            <a:prstDash val="solid"/>
          </a:ln>
        </p:spPr>
      </p:sp>
      <p:sp>
        <p:nvSpPr>
          <p:cNvPr id="33" name="Text 30"/>
          <p:cNvSpPr txBox="1"/>
          <p:nvPr/>
        </p:nvSpPr>
        <p:spPr>
          <a:xfrm>
            <a:off x="8458200" y="3154680"/>
            <a:ext cx="2926080" cy="274320"/>
          </a:xfrm>
          <a:prstGeom prst="rect">
            <a:avLst/>
          </a:prstGeom>
          <a:noFill/>
          <a:ln/>
        </p:spPr>
        <p:txBody>
          <a:bodyPr wrap="square" lIns="0" tIns="0" rIns="0" bIns="0" rtlCol="0" anchor="t"/>
          <a:lstStyle/>
          <a:p>
            <a:pPr indent="0" marL="0">
              <a:buNone/>
            </a:pPr>
            <a:r>
              <a:rPr lang="en-US" sz="1300" b="1" dirty="0">
                <a:solidFill>
                  <a:srgbClr val="EF4444"/>
                </a:solidFill>
                <a:latin typeface="Segoe UI" pitchFamily="34" charset="0"/>
                <a:ea typeface="Segoe UI" pitchFamily="34" charset="-122"/>
                <a:cs typeface="Segoe UI" pitchFamily="34" charset="-120"/>
              </a:rPr>
              <a:t>HIGH</a:t>
            </a:r>
            <a:endParaRPr lang="en-US" sz="1300" dirty="0"/>
          </a:p>
        </p:txBody>
      </p:sp>
      <p:sp>
        <p:nvSpPr>
          <p:cNvPr id="34" name="Text 31"/>
          <p:cNvSpPr txBox="1"/>
          <p:nvPr/>
        </p:nvSpPr>
        <p:spPr>
          <a:xfrm>
            <a:off x="8458200" y="3474720"/>
            <a:ext cx="2926080" cy="320040"/>
          </a:xfrm>
          <a:prstGeom prst="rect">
            <a:avLst/>
          </a:prstGeom>
          <a:noFill/>
          <a:ln/>
        </p:spPr>
        <p:txBody>
          <a:bodyPr wrap="square" lIns="0" tIns="0" rIns="0" bIns="0" rtlCol="0" anchor="t"/>
          <a:lstStyle/>
          <a:p>
            <a:pPr indent="0" marL="0">
              <a:buNone/>
            </a:pPr>
            <a:r>
              <a:rPr lang="en-US" sz="1200" dirty="0">
                <a:solidFill>
                  <a:srgbClr val="E9F2FF"/>
                </a:solidFill>
                <a:latin typeface="Segoe UI" pitchFamily="34" charset="0"/>
                <a:ea typeface="Segoe UI" pitchFamily="34" charset="-122"/>
                <a:cs typeface="Segoe UI" pitchFamily="34" charset="-120"/>
              </a:rPr>
              <a:t>Occupancy ≥ 80%  OR  Queue ≥ 5</a:t>
            </a:r>
            <a:endParaRPr lang="en-US" sz="1200" dirty="0"/>
          </a:p>
        </p:txBody>
      </p:sp>
      <p:sp>
        <p:nvSpPr>
          <p:cNvPr id="35" name="Shape 32"/>
          <p:cNvSpPr/>
          <p:nvPr/>
        </p:nvSpPr>
        <p:spPr>
          <a:xfrm>
            <a:off x="8321040" y="4023360"/>
            <a:ext cx="3200400" cy="822960"/>
          </a:xfrm>
          <a:prstGeom prst="roundRect">
            <a:avLst>
              <a:gd name="adj" fmla="val 8889"/>
            </a:avLst>
          </a:prstGeom>
          <a:solidFill>
            <a:srgbClr val="060C18"/>
          </a:solidFill>
          <a:ln w="12700">
            <a:solidFill>
              <a:srgbClr val="F59E0B"/>
            </a:solidFill>
            <a:prstDash val="solid"/>
          </a:ln>
        </p:spPr>
      </p:sp>
      <p:sp>
        <p:nvSpPr>
          <p:cNvPr id="36" name="Text 33"/>
          <p:cNvSpPr txBox="1"/>
          <p:nvPr/>
        </p:nvSpPr>
        <p:spPr>
          <a:xfrm>
            <a:off x="8458200" y="4114800"/>
            <a:ext cx="2926080" cy="274320"/>
          </a:xfrm>
          <a:prstGeom prst="rect">
            <a:avLst/>
          </a:prstGeom>
          <a:noFill/>
          <a:ln/>
        </p:spPr>
        <p:txBody>
          <a:bodyPr wrap="square" lIns="0" tIns="0" rIns="0" bIns="0" rtlCol="0" anchor="t"/>
          <a:lstStyle/>
          <a:p>
            <a:pPr indent="0" marL="0">
              <a:buNone/>
            </a:pPr>
            <a:r>
              <a:rPr lang="en-US" sz="1300" b="1" dirty="0">
                <a:solidFill>
                  <a:srgbClr val="F59E0B"/>
                </a:solidFill>
                <a:latin typeface="Segoe UI" pitchFamily="34" charset="0"/>
                <a:ea typeface="Segoe UI" pitchFamily="34" charset="-122"/>
                <a:cs typeface="Segoe UI" pitchFamily="34" charset="-120"/>
              </a:rPr>
              <a:t>MEDIUM</a:t>
            </a:r>
            <a:endParaRPr lang="en-US" sz="1300" dirty="0"/>
          </a:p>
        </p:txBody>
      </p:sp>
      <p:sp>
        <p:nvSpPr>
          <p:cNvPr id="37" name="Text 34"/>
          <p:cNvSpPr txBox="1"/>
          <p:nvPr/>
        </p:nvSpPr>
        <p:spPr>
          <a:xfrm>
            <a:off x="8458200" y="4434840"/>
            <a:ext cx="2926080" cy="320040"/>
          </a:xfrm>
          <a:prstGeom prst="rect">
            <a:avLst/>
          </a:prstGeom>
          <a:noFill/>
          <a:ln/>
        </p:spPr>
        <p:txBody>
          <a:bodyPr wrap="square" lIns="0" tIns="0" rIns="0" bIns="0" rtlCol="0" anchor="t"/>
          <a:lstStyle/>
          <a:p>
            <a:pPr indent="0" marL="0">
              <a:buNone/>
            </a:pPr>
            <a:r>
              <a:rPr lang="en-US" sz="1200" dirty="0">
                <a:solidFill>
                  <a:srgbClr val="E9F2FF"/>
                </a:solidFill>
                <a:latin typeface="Segoe UI" pitchFamily="34" charset="0"/>
                <a:ea typeface="Segoe UI" pitchFamily="34" charset="-122"/>
                <a:cs typeface="Segoe UI" pitchFamily="34" charset="-120"/>
              </a:rPr>
              <a:t>Occupancy ≥ 50%  OR  Queue ≥ 2</a:t>
            </a:r>
            <a:endParaRPr lang="en-US" sz="1200" dirty="0"/>
          </a:p>
        </p:txBody>
      </p:sp>
      <p:sp>
        <p:nvSpPr>
          <p:cNvPr id="38" name="Shape 35"/>
          <p:cNvSpPr/>
          <p:nvPr/>
        </p:nvSpPr>
        <p:spPr>
          <a:xfrm>
            <a:off x="8321040" y="4983480"/>
            <a:ext cx="3200400" cy="822960"/>
          </a:xfrm>
          <a:prstGeom prst="roundRect">
            <a:avLst>
              <a:gd name="adj" fmla="val 8889"/>
            </a:avLst>
          </a:prstGeom>
          <a:solidFill>
            <a:srgbClr val="060C18"/>
          </a:solidFill>
          <a:ln w="12700">
            <a:solidFill>
              <a:srgbClr val="22C55E"/>
            </a:solidFill>
            <a:prstDash val="solid"/>
          </a:ln>
        </p:spPr>
      </p:sp>
      <p:sp>
        <p:nvSpPr>
          <p:cNvPr id="39" name="Text 36"/>
          <p:cNvSpPr txBox="1"/>
          <p:nvPr/>
        </p:nvSpPr>
        <p:spPr>
          <a:xfrm>
            <a:off x="8458200" y="5074920"/>
            <a:ext cx="2926080" cy="274320"/>
          </a:xfrm>
          <a:prstGeom prst="rect">
            <a:avLst/>
          </a:prstGeom>
          <a:noFill/>
          <a:ln/>
        </p:spPr>
        <p:txBody>
          <a:bodyPr wrap="square" lIns="0" tIns="0" rIns="0" bIns="0" rtlCol="0" anchor="t"/>
          <a:lstStyle/>
          <a:p>
            <a:pPr indent="0" marL="0">
              <a:buNone/>
            </a:pPr>
            <a:r>
              <a:rPr lang="en-US" sz="1300" b="1" dirty="0">
                <a:solidFill>
                  <a:srgbClr val="22C55E"/>
                </a:solidFill>
                <a:latin typeface="Segoe UI" pitchFamily="34" charset="0"/>
                <a:ea typeface="Segoe UI" pitchFamily="34" charset="-122"/>
                <a:cs typeface="Segoe UI" pitchFamily="34" charset="-120"/>
              </a:rPr>
              <a:t>LOW</a:t>
            </a:r>
            <a:endParaRPr lang="en-US" sz="1300" dirty="0"/>
          </a:p>
        </p:txBody>
      </p:sp>
      <p:sp>
        <p:nvSpPr>
          <p:cNvPr id="40" name="Text 37"/>
          <p:cNvSpPr txBox="1"/>
          <p:nvPr/>
        </p:nvSpPr>
        <p:spPr>
          <a:xfrm>
            <a:off x="8458200" y="5394960"/>
            <a:ext cx="2926080" cy="320040"/>
          </a:xfrm>
          <a:prstGeom prst="rect">
            <a:avLst/>
          </a:prstGeom>
          <a:noFill/>
          <a:ln/>
        </p:spPr>
        <p:txBody>
          <a:bodyPr wrap="square" lIns="0" tIns="0" rIns="0" bIns="0" rtlCol="0" anchor="t"/>
          <a:lstStyle/>
          <a:p>
            <a:pPr indent="0" marL="0">
              <a:buNone/>
            </a:pPr>
            <a:r>
              <a:rPr lang="en-US" sz="1200" dirty="0">
                <a:solidFill>
                  <a:srgbClr val="E9F2FF"/>
                </a:solidFill>
                <a:latin typeface="Segoe UI" pitchFamily="34" charset="0"/>
                <a:ea typeface="Segoe UI" pitchFamily="34" charset="-122"/>
                <a:cs typeface="Segoe UI" pitchFamily="34" charset="-120"/>
              </a:rPr>
              <a:t>Otherwise</a:t>
            </a:r>
            <a:endParaRPr lang="en-US" sz="1200" dirty="0"/>
          </a:p>
        </p:txBody>
      </p:sp>
      <p:sp>
        <p:nvSpPr>
          <p:cNvPr id="41" name="Text 38"/>
          <p:cNvSpPr txBox="1"/>
          <p:nvPr/>
        </p:nvSpPr>
        <p:spPr>
          <a:xfrm>
            <a:off x="8321040" y="5897880"/>
            <a:ext cx="3291840" cy="22860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Records: Low 3,527 • Medium 5,711 • High 2,762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Exploratory Data Analysis</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Average actual demand (kWh) from the 12,000-record project dataset</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5 / 11</a:t>
            </a:r>
            <a:endParaRPr lang="en-US" sz="1000" dirty="0"/>
          </a:p>
        </p:txBody>
      </p:sp>
      <p:graphicFrame>
        <p:nvGraphicFramePr>
          <p:cNvPr id="7" name="Chart 0" descr=""/>
          <p:cNvGraphicFramePr/>
          <p:nvPr/>
        </p:nvGraphicFramePr>
        <p:xfrm>
          <a:off x="457200" y="1280160"/>
          <a:ext cx="5577840" cy="224028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172200" y="1280160"/>
          <a:ext cx="5577840" cy="2240280"/>
        </p:xfrm>
        <a:graphic xmlns:a="http://schemas.openxmlformats.org/drawingml/2006/main">
          <a:graphicData uri="http://schemas.openxmlformats.org/drawingml/2006/chart">
            <c:chart xmlns:c="http://schemas.openxmlformats.org/drawingml/2006/chart" r:id="rId2"/>
          </a:graphicData>
        </a:graphic>
      </p:graphicFrame>
      <p:graphicFrame>
        <p:nvGraphicFramePr>
          <p:cNvPr id="9" name="Chart 2" descr=""/>
          <p:cNvGraphicFramePr/>
          <p:nvPr/>
        </p:nvGraphicFramePr>
        <p:xfrm>
          <a:off x="457200" y="3611880"/>
          <a:ext cx="5577840" cy="2240280"/>
        </p:xfrm>
        <a:graphic xmlns:a="http://schemas.openxmlformats.org/drawingml/2006/main">
          <a:graphicData uri="http://schemas.openxmlformats.org/drawingml/2006/chart">
            <c:chart xmlns:c="http://schemas.openxmlformats.org/drawingml/2006/chart" r:id="rId3"/>
          </a:graphicData>
        </a:graphic>
      </p:graphicFrame>
      <p:graphicFrame>
        <p:nvGraphicFramePr>
          <p:cNvPr id="10" name="Chart 3" descr=""/>
          <p:cNvGraphicFramePr/>
          <p:nvPr/>
        </p:nvGraphicFramePr>
        <p:xfrm>
          <a:off x="6172200" y="3611880"/>
          <a:ext cx="5577840" cy="2240280"/>
        </p:xfrm>
        <a:graphic xmlns:a="http://schemas.openxmlformats.org/drawingml/2006/main">
          <a:graphicData uri="http://schemas.openxmlformats.org/drawingml/2006/chart">
            <c:chart xmlns:c="http://schemas.openxmlformats.org/drawingml/2006/chart" r:id="rId4"/>
          </a:graphicData>
        </a:graphic>
      </p:graphicFrame>
      <p:sp>
        <p:nvSpPr>
          <p:cNvPr id="11" name="Shape 4"/>
          <p:cNvSpPr/>
          <p:nvPr/>
        </p:nvSpPr>
        <p:spPr>
          <a:xfrm>
            <a:off x="457200" y="5943600"/>
            <a:ext cx="11292840" cy="457200"/>
          </a:xfrm>
          <a:prstGeom prst="roundRect">
            <a:avLst>
              <a:gd name="adj" fmla="val 20000"/>
            </a:avLst>
          </a:prstGeom>
          <a:solidFill>
            <a:srgbClr val="0D1A2E"/>
          </a:solidFill>
          <a:ln w="12700">
            <a:solidFill>
              <a:srgbClr val="1C2F50"/>
            </a:solidFill>
            <a:prstDash val="solid"/>
          </a:ln>
        </p:spPr>
      </p:sp>
      <p:sp>
        <p:nvSpPr>
          <p:cNvPr id="12" name="Text 5"/>
          <p:cNvSpPr txBox="1"/>
          <p:nvPr/>
        </p:nvSpPr>
        <p:spPr>
          <a:xfrm>
            <a:off x="640080" y="5943600"/>
            <a:ext cx="10972800" cy="45720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High traffic averages 24.16 kWh vs 18.83 kWh at low traffic  •  Peak hours 17–20 (~27 kWh) and 07–09 (~25 kWh)  •  Weather effect is small (20.63–21.93 kWh)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Predictive Modeling</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Two Random Forest models, trained on the same 80/20 split</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6 / 11</a:t>
            </a:r>
            <a:endParaRPr lang="en-US" sz="1000" dirty="0"/>
          </a:p>
        </p:txBody>
      </p:sp>
      <p:sp>
        <p:nvSpPr>
          <p:cNvPr id="7" name="Shape 4"/>
          <p:cNvSpPr/>
          <p:nvPr/>
        </p:nvSpPr>
        <p:spPr>
          <a:xfrm>
            <a:off x="457200" y="1371600"/>
            <a:ext cx="2286000" cy="2377440"/>
          </a:xfrm>
          <a:prstGeom prst="roundRect">
            <a:avLst>
              <a:gd name="adj" fmla="val 4000"/>
            </a:avLst>
          </a:prstGeom>
          <a:solidFill>
            <a:srgbClr val="0D1A2E"/>
          </a:solidFill>
          <a:ln w="12700">
            <a:solidFill>
              <a:srgbClr val="1C2F50"/>
            </a:solidFill>
            <a:prstDash val="solid"/>
          </a:ln>
        </p:spPr>
      </p:sp>
      <p:sp>
        <p:nvSpPr>
          <p:cNvPr id="8" name="Text 5"/>
          <p:cNvSpPr txBox="1"/>
          <p:nvPr/>
        </p:nvSpPr>
        <p:spPr>
          <a:xfrm>
            <a:off x="594360" y="1463040"/>
            <a:ext cx="201168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INPUT FEATURES</a:t>
            </a:r>
            <a:endParaRPr lang="en-US" sz="1100" dirty="0"/>
          </a:p>
        </p:txBody>
      </p:sp>
      <p:sp>
        <p:nvSpPr>
          <p:cNvPr id="9" name="Text 6"/>
          <p:cNvSpPr txBox="1"/>
          <p:nvPr/>
        </p:nvSpPr>
        <p:spPr>
          <a:xfrm>
            <a:off x="594360" y="1783080"/>
            <a:ext cx="2057400" cy="192024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Station_ID, City, Connector_Type, Vehicle_Type, Temperature_C, Weather, Traffic_Level, Electricity_Price, Hour, DayOfWeek, Month, IsWeekend</a:t>
            </a:r>
            <a:endParaRPr lang="en-US" sz="1100" dirty="0"/>
          </a:p>
        </p:txBody>
      </p:sp>
      <p:sp>
        <p:nvSpPr>
          <p:cNvPr id="10" name="Shape 7"/>
          <p:cNvSpPr/>
          <p:nvPr/>
        </p:nvSpPr>
        <p:spPr>
          <a:xfrm>
            <a:off x="3246120" y="1371600"/>
            <a:ext cx="2468880" cy="1051560"/>
          </a:xfrm>
          <a:prstGeom prst="roundRect">
            <a:avLst>
              <a:gd name="adj" fmla="val 8696"/>
            </a:avLst>
          </a:prstGeom>
          <a:solidFill>
            <a:srgbClr val="0D1A2E"/>
          </a:solidFill>
          <a:ln w="12700">
            <a:solidFill>
              <a:srgbClr val="2DD4BF"/>
            </a:solidFill>
            <a:prstDash val="solid"/>
          </a:ln>
        </p:spPr>
      </p:sp>
      <p:sp>
        <p:nvSpPr>
          <p:cNvPr id="11" name="Text 8"/>
          <p:cNvSpPr txBox="1"/>
          <p:nvPr/>
        </p:nvSpPr>
        <p:spPr>
          <a:xfrm>
            <a:off x="3337560" y="1481328"/>
            <a:ext cx="2286000" cy="457200"/>
          </a:xfrm>
          <a:prstGeom prst="rect">
            <a:avLst/>
          </a:prstGeom>
          <a:noFill/>
          <a:ln/>
        </p:spPr>
        <p:txBody>
          <a:bodyPr wrap="square" lIns="0" tIns="0" rIns="0" bIns="0" rtlCol="0" anchor="t"/>
          <a:lstStyle/>
          <a:p>
            <a:pPr algn="ctr" indent="0" marL="0">
              <a:buNone/>
            </a:pPr>
            <a:r>
              <a:rPr lang="en-US" sz="1300" b="1" dirty="0">
                <a:solidFill>
                  <a:srgbClr val="2DD4BF"/>
                </a:solidFill>
                <a:latin typeface="Segoe UI" pitchFamily="34" charset="0"/>
                <a:ea typeface="Segoe UI" pitchFamily="34" charset="-122"/>
                <a:cs typeface="Segoe UI" pitchFamily="34" charset="-120"/>
              </a:rPr>
              <a:t>RANDOM FOREST REGRESSOR</a:t>
            </a:r>
            <a:endParaRPr lang="en-US" sz="1300" dirty="0"/>
          </a:p>
        </p:txBody>
      </p:sp>
      <p:sp>
        <p:nvSpPr>
          <p:cNvPr id="12" name="Text 9"/>
          <p:cNvSpPr txBox="1"/>
          <p:nvPr/>
        </p:nvSpPr>
        <p:spPr>
          <a:xfrm>
            <a:off x="3337560" y="1938528"/>
            <a:ext cx="2286000" cy="411480"/>
          </a:xfrm>
          <a:prstGeom prst="rect">
            <a:avLst/>
          </a:prstGeom>
          <a:noFill/>
          <a:ln/>
        </p:spPr>
        <p:txBody>
          <a:bodyPr wrap="square" lIns="0" tIns="0" rIns="0" bIns="0" rtlCol="0" anchor="t"/>
          <a:lstStyle/>
          <a:p>
            <a:pPr algn="ctr" indent="0" marL="0">
              <a:buNone/>
            </a:pPr>
            <a:r>
              <a:rPr lang="en-US" sz="1100" dirty="0">
                <a:solidFill>
                  <a:srgbClr val="E9F2FF"/>
                </a:solidFill>
                <a:latin typeface="Segoe UI" pitchFamily="34" charset="0"/>
                <a:ea typeface="Segoe UI" pitchFamily="34" charset="-122"/>
                <a:cs typeface="Segoe UI" pitchFamily="34" charset="-120"/>
              </a:rPr>
              <a:t>Charging Demand Prediction</a:t>
            </a:r>
            <a:endParaRPr lang="en-US" sz="1100" dirty="0"/>
          </a:p>
        </p:txBody>
      </p:sp>
      <p:sp>
        <p:nvSpPr>
          <p:cNvPr id="13" name="Shape 10"/>
          <p:cNvSpPr/>
          <p:nvPr/>
        </p:nvSpPr>
        <p:spPr>
          <a:xfrm>
            <a:off x="6172200" y="1371600"/>
            <a:ext cx="2468880" cy="1051560"/>
          </a:xfrm>
          <a:prstGeom prst="roundRect">
            <a:avLst>
              <a:gd name="adj" fmla="val 8696"/>
            </a:avLst>
          </a:prstGeom>
          <a:solidFill>
            <a:srgbClr val="0D1A2E"/>
          </a:solidFill>
          <a:ln w="12700">
            <a:solidFill>
              <a:srgbClr val="4F8CFF"/>
            </a:solidFill>
            <a:prstDash val="solid"/>
          </a:ln>
        </p:spPr>
      </p:sp>
      <p:sp>
        <p:nvSpPr>
          <p:cNvPr id="14" name="Text 11"/>
          <p:cNvSpPr txBox="1"/>
          <p:nvPr/>
        </p:nvSpPr>
        <p:spPr>
          <a:xfrm>
            <a:off x="6263640" y="1481328"/>
            <a:ext cx="2286000" cy="457200"/>
          </a:xfrm>
          <a:prstGeom prst="rect">
            <a:avLst/>
          </a:prstGeom>
          <a:noFill/>
          <a:ln/>
        </p:spPr>
        <p:txBody>
          <a:bodyPr wrap="square" lIns="0" tIns="0" rIns="0" bIns="0" rtlCol="0" anchor="t"/>
          <a:lstStyle/>
          <a:p>
            <a:pPr algn="ctr" indent="0" marL="0">
              <a:buNone/>
            </a:pPr>
            <a:r>
              <a:rPr lang="en-US" sz="1300" b="1" dirty="0">
                <a:solidFill>
                  <a:srgbClr val="4F8CFF"/>
                </a:solidFill>
                <a:latin typeface="Segoe UI" pitchFamily="34" charset="0"/>
                <a:ea typeface="Segoe UI" pitchFamily="34" charset="-122"/>
                <a:cs typeface="Segoe UI" pitchFamily="34" charset="-120"/>
              </a:rPr>
              <a:t>Predicted_Demand_kWh</a:t>
            </a:r>
            <a:endParaRPr lang="en-US" sz="1300" dirty="0"/>
          </a:p>
        </p:txBody>
      </p:sp>
      <p:sp>
        <p:nvSpPr>
          <p:cNvPr id="15" name="Text 12"/>
          <p:cNvSpPr txBox="1"/>
          <p:nvPr/>
        </p:nvSpPr>
        <p:spPr>
          <a:xfrm>
            <a:off x="6263640" y="1938528"/>
            <a:ext cx="2286000" cy="411480"/>
          </a:xfrm>
          <a:prstGeom prst="rect">
            <a:avLst/>
          </a:prstGeom>
          <a:noFill/>
          <a:ln/>
        </p:spPr>
        <p:txBody>
          <a:bodyPr wrap="square" lIns="0" tIns="0" rIns="0" bIns="0" rtlCol="0" anchor="t"/>
          <a:lstStyle/>
          <a:p>
            <a:pPr algn="ctr" indent="0" marL="0">
              <a:buNone/>
            </a:pPr>
            <a:r>
              <a:rPr lang="en-US" sz="1100" dirty="0">
                <a:solidFill>
                  <a:srgbClr val="E9F2FF"/>
                </a:solidFill>
                <a:latin typeface="Segoe UI" pitchFamily="34" charset="0"/>
                <a:ea typeface="Segoe UI" pitchFamily="34" charset="-122"/>
                <a:cs typeface="Segoe UI" pitchFamily="34" charset="-120"/>
              </a:rPr>
              <a:t>Output + classifier input</a:t>
            </a:r>
            <a:endParaRPr lang="en-US" sz="1100" dirty="0"/>
          </a:p>
        </p:txBody>
      </p:sp>
      <p:sp>
        <p:nvSpPr>
          <p:cNvPr id="16" name="Shape 13"/>
          <p:cNvSpPr/>
          <p:nvPr/>
        </p:nvSpPr>
        <p:spPr>
          <a:xfrm>
            <a:off x="3246120" y="2743200"/>
            <a:ext cx="2468880" cy="1051560"/>
          </a:xfrm>
          <a:prstGeom prst="roundRect">
            <a:avLst>
              <a:gd name="adj" fmla="val 8696"/>
            </a:avLst>
          </a:prstGeom>
          <a:solidFill>
            <a:srgbClr val="0D1A2E"/>
          </a:solidFill>
          <a:ln w="12700">
            <a:solidFill>
              <a:srgbClr val="F59E0B"/>
            </a:solidFill>
            <a:prstDash val="solid"/>
          </a:ln>
        </p:spPr>
      </p:sp>
      <p:sp>
        <p:nvSpPr>
          <p:cNvPr id="17" name="Text 14"/>
          <p:cNvSpPr txBox="1"/>
          <p:nvPr/>
        </p:nvSpPr>
        <p:spPr>
          <a:xfrm>
            <a:off x="3337560" y="2852928"/>
            <a:ext cx="2286000" cy="457200"/>
          </a:xfrm>
          <a:prstGeom prst="rect">
            <a:avLst/>
          </a:prstGeom>
          <a:noFill/>
          <a:ln/>
        </p:spPr>
        <p:txBody>
          <a:bodyPr wrap="square" lIns="0" tIns="0" rIns="0" bIns="0" rtlCol="0" anchor="t"/>
          <a:lstStyle/>
          <a:p>
            <a:pPr algn="ctr" indent="0" marL="0">
              <a:buNone/>
            </a:pPr>
            <a:r>
              <a:rPr lang="en-US" sz="1300" b="1" dirty="0">
                <a:solidFill>
                  <a:srgbClr val="F59E0B"/>
                </a:solidFill>
                <a:latin typeface="Segoe UI" pitchFamily="34" charset="0"/>
                <a:ea typeface="Segoe UI" pitchFamily="34" charset="-122"/>
                <a:cs typeface="Segoe UI" pitchFamily="34" charset="-120"/>
              </a:rPr>
              <a:t>RANDOM FOREST CLASSIFIER</a:t>
            </a:r>
            <a:endParaRPr lang="en-US" sz="1300" dirty="0"/>
          </a:p>
        </p:txBody>
      </p:sp>
      <p:sp>
        <p:nvSpPr>
          <p:cNvPr id="18" name="Text 15"/>
          <p:cNvSpPr txBox="1"/>
          <p:nvPr/>
        </p:nvSpPr>
        <p:spPr>
          <a:xfrm>
            <a:off x="3337560" y="3310128"/>
            <a:ext cx="2286000" cy="411480"/>
          </a:xfrm>
          <a:prstGeom prst="rect">
            <a:avLst/>
          </a:prstGeom>
          <a:noFill/>
          <a:ln/>
        </p:spPr>
        <p:txBody>
          <a:bodyPr wrap="square" lIns="0" tIns="0" rIns="0" bIns="0" rtlCol="0" anchor="t"/>
          <a:lstStyle/>
          <a:p>
            <a:pPr algn="ctr" indent="0" marL="0">
              <a:buNone/>
            </a:pPr>
            <a:r>
              <a:rPr lang="en-US" sz="1100" dirty="0">
                <a:solidFill>
                  <a:srgbClr val="E9F2FF"/>
                </a:solidFill>
                <a:latin typeface="Segoe UI" pitchFamily="34" charset="0"/>
                <a:ea typeface="Segoe UI" pitchFamily="34" charset="-122"/>
                <a:cs typeface="Segoe UI" pitchFamily="34" charset="-120"/>
              </a:rPr>
              <a:t>Station Congestion Prediction</a:t>
            </a:r>
            <a:endParaRPr lang="en-US" sz="1100" dirty="0"/>
          </a:p>
        </p:txBody>
      </p:sp>
      <p:sp>
        <p:nvSpPr>
          <p:cNvPr id="19" name="Shape 16"/>
          <p:cNvSpPr/>
          <p:nvPr/>
        </p:nvSpPr>
        <p:spPr>
          <a:xfrm>
            <a:off x="6172200" y="2743200"/>
            <a:ext cx="2468880" cy="1051560"/>
          </a:xfrm>
          <a:prstGeom prst="roundRect">
            <a:avLst>
              <a:gd name="adj" fmla="val 8696"/>
            </a:avLst>
          </a:prstGeom>
          <a:solidFill>
            <a:srgbClr val="0D1A2E"/>
          </a:solidFill>
          <a:ln w="12700">
            <a:solidFill>
              <a:srgbClr val="EF4444"/>
            </a:solidFill>
            <a:prstDash val="solid"/>
          </a:ln>
        </p:spPr>
      </p:sp>
      <p:sp>
        <p:nvSpPr>
          <p:cNvPr id="20" name="Text 17"/>
          <p:cNvSpPr txBox="1"/>
          <p:nvPr/>
        </p:nvSpPr>
        <p:spPr>
          <a:xfrm>
            <a:off x="6263640" y="2852928"/>
            <a:ext cx="2286000" cy="457200"/>
          </a:xfrm>
          <a:prstGeom prst="rect">
            <a:avLst/>
          </a:prstGeom>
          <a:noFill/>
          <a:ln/>
        </p:spPr>
        <p:txBody>
          <a:bodyPr wrap="square" lIns="0" tIns="0" rIns="0" bIns="0" rtlCol="0" anchor="t"/>
          <a:lstStyle/>
          <a:p>
            <a:pPr algn="ctr" indent="0" marL="0">
              <a:buNone/>
            </a:pPr>
            <a:r>
              <a:rPr lang="en-US" sz="1300" b="1" dirty="0">
                <a:solidFill>
                  <a:srgbClr val="EF4444"/>
                </a:solidFill>
                <a:latin typeface="Segoe UI" pitchFamily="34" charset="0"/>
                <a:ea typeface="Segoe UI" pitchFamily="34" charset="-122"/>
                <a:cs typeface="Segoe UI" pitchFamily="34" charset="-120"/>
              </a:rPr>
              <a:t>Predicted_Congestion</a:t>
            </a:r>
            <a:endParaRPr lang="en-US" sz="1300" dirty="0"/>
          </a:p>
        </p:txBody>
      </p:sp>
      <p:sp>
        <p:nvSpPr>
          <p:cNvPr id="21" name="Text 18"/>
          <p:cNvSpPr txBox="1"/>
          <p:nvPr/>
        </p:nvSpPr>
        <p:spPr>
          <a:xfrm>
            <a:off x="6263640" y="3310128"/>
            <a:ext cx="2286000" cy="411480"/>
          </a:xfrm>
          <a:prstGeom prst="rect">
            <a:avLst/>
          </a:prstGeom>
          <a:noFill/>
          <a:ln/>
        </p:spPr>
        <p:txBody>
          <a:bodyPr wrap="square" lIns="0" tIns="0" rIns="0" bIns="0" rtlCol="0" anchor="t"/>
          <a:lstStyle/>
          <a:p>
            <a:pPr algn="ctr" indent="0" marL="0">
              <a:buNone/>
            </a:pPr>
            <a:r>
              <a:rPr lang="en-US" sz="1100" dirty="0">
                <a:solidFill>
                  <a:srgbClr val="E9F2FF"/>
                </a:solidFill>
                <a:latin typeface="Segoe UI" pitchFamily="34" charset="0"/>
                <a:ea typeface="Segoe UI" pitchFamily="34" charset="-122"/>
                <a:cs typeface="Segoe UI" pitchFamily="34" charset="-120"/>
              </a:rPr>
              <a:t>Low / Medium / High</a:t>
            </a:r>
            <a:endParaRPr lang="en-US" sz="1100" dirty="0"/>
          </a:p>
        </p:txBody>
      </p:sp>
      <p:sp>
        <p:nvSpPr>
          <p:cNvPr id="22" name="Text 19"/>
          <p:cNvSpPr txBox="1"/>
          <p:nvPr/>
        </p:nvSpPr>
        <p:spPr>
          <a:xfrm>
            <a:off x="2743200" y="1645920"/>
            <a:ext cx="457200" cy="457200"/>
          </a:xfrm>
          <a:prstGeom prst="rect">
            <a:avLst/>
          </a:prstGeom>
          <a:noFill/>
          <a:ln/>
        </p:spPr>
        <p:txBody>
          <a:bodyPr wrap="square" lIns="0" tIns="0" rIns="0" bIns="0" rtlCol="0" anchor="ctr"/>
          <a:lstStyle/>
          <a:p>
            <a:pPr algn="ctr" indent="0" marL="0">
              <a:buNone/>
            </a:pPr>
            <a:r>
              <a:rPr lang="en-US" sz="2400" dirty="0">
                <a:solidFill>
                  <a:srgbClr val="8FA4C6"/>
                </a:solidFill>
                <a:latin typeface="Segoe UI" pitchFamily="34" charset="0"/>
                <a:ea typeface="Segoe UI" pitchFamily="34" charset="-122"/>
                <a:cs typeface="Segoe UI" pitchFamily="34" charset="-120"/>
              </a:rPr>
              <a:t>›</a:t>
            </a:r>
            <a:endParaRPr lang="en-US" sz="2400" dirty="0"/>
          </a:p>
        </p:txBody>
      </p:sp>
      <p:sp>
        <p:nvSpPr>
          <p:cNvPr id="23" name="Text 20"/>
          <p:cNvSpPr txBox="1"/>
          <p:nvPr/>
        </p:nvSpPr>
        <p:spPr>
          <a:xfrm>
            <a:off x="5715000" y="1645920"/>
            <a:ext cx="457200" cy="457200"/>
          </a:xfrm>
          <a:prstGeom prst="rect">
            <a:avLst/>
          </a:prstGeom>
          <a:noFill/>
          <a:ln/>
        </p:spPr>
        <p:txBody>
          <a:bodyPr wrap="square" lIns="0" tIns="0" rIns="0" bIns="0" rtlCol="0" anchor="ctr"/>
          <a:lstStyle/>
          <a:p>
            <a:pPr algn="ctr" indent="0" marL="0">
              <a:buNone/>
            </a:pPr>
            <a:r>
              <a:rPr lang="en-US" sz="2400" dirty="0">
                <a:solidFill>
                  <a:srgbClr val="8FA4C6"/>
                </a:solidFill>
                <a:latin typeface="Segoe UI" pitchFamily="34" charset="0"/>
                <a:ea typeface="Segoe UI" pitchFamily="34" charset="-122"/>
                <a:cs typeface="Segoe UI" pitchFamily="34" charset="-120"/>
              </a:rPr>
              <a:t>›</a:t>
            </a:r>
            <a:endParaRPr lang="en-US" sz="2400" dirty="0"/>
          </a:p>
        </p:txBody>
      </p:sp>
      <p:sp>
        <p:nvSpPr>
          <p:cNvPr id="24" name="Text 21"/>
          <p:cNvSpPr txBox="1"/>
          <p:nvPr/>
        </p:nvSpPr>
        <p:spPr>
          <a:xfrm>
            <a:off x="5715000" y="3017520"/>
            <a:ext cx="457200" cy="457200"/>
          </a:xfrm>
          <a:prstGeom prst="rect">
            <a:avLst/>
          </a:prstGeom>
          <a:noFill/>
          <a:ln/>
        </p:spPr>
        <p:txBody>
          <a:bodyPr wrap="square" lIns="0" tIns="0" rIns="0" bIns="0" rtlCol="0" anchor="ctr"/>
          <a:lstStyle/>
          <a:p>
            <a:pPr algn="ctr" indent="0" marL="0">
              <a:buNone/>
            </a:pPr>
            <a:r>
              <a:rPr lang="en-US" sz="2400" dirty="0">
                <a:solidFill>
                  <a:srgbClr val="8FA4C6"/>
                </a:solidFill>
                <a:latin typeface="Segoe UI" pitchFamily="34" charset="0"/>
                <a:ea typeface="Segoe UI" pitchFamily="34" charset="-122"/>
                <a:cs typeface="Segoe UI" pitchFamily="34" charset="-120"/>
              </a:rPr>
              <a:t>›</a:t>
            </a:r>
            <a:endParaRPr lang="en-US" sz="2400" dirty="0"/>
          </a:p>
        </p:txBody>
      </p:sp>
      <p:sp>
        <p:nvSpPr>
          <p:cNvPr id="25" name="Text 22"/>
          <p:cNvSpPr txBox="1"/>
          <p:nvPr/>
        </p:nvSpPr>
        <p:spPr>
          <a:xfrm>
            <a:off x="7223760" y="2468880"/>
            <a:ext cx="365760" cy="274320"/>
          </a:xfrm>
          <a:prstGeom prst="rect">
            <a:avLst/>
          </a:prstGeom>
          <a:noFill/>
          <a:ln/>
        </p:spPr>
        <p:txBody>
          <a:bodyPr wrap="square" lIns="0" tIns="0" rIns="0" bIns="0" rtlCol="0" anchor="ctr"/>
          <a:lstStyle/>
          <a:p>
            <a:pPr algn="ctr" indent="0" marL="0">
              <a:buNone/>
            </a:pPr>
            <a:r>
              <a:rPr lang="en-US" sz="1200" dirty="0">
                <a:solidFill>
                  <a:srgbClr val="8FA4C6"/>
                </a:solidFill>
                <a:latin typeface="Segoe UI" pitchFamily="34" charset="0"/>
                <a:ea typeface="Segoe UI" pitchFamily="34" charset="-122"/>
                <a:cs typeface="Segoe UI" pitchFamily="34" charset="-120"/>
              </a:rPr>
              <a:t>▼</a:t>
            </a:r>
            <a:endParaRPr lang="en-US" sz="1200" dirty="0"/>
          </a:p>
        </p:txBody>
      </p:sp>
      <p:sp>
        <p:nvSpPr>
          <p:cNvPr id="26" name="Shape 23"/>
          <p:cNvSpPr/>
          <p:nvPr/>
        </p:nvSpPr>
        <p:spPr>
          <a:xfrm>
            <a:off x="9189720" y="1371600"/>
            <a:ext cx="2560320" cy="2423160"/>
          </a:xfrm>
          <a:prstGeom prst="roundRect">
            <a:avLst>
              <a:gd name="adj" fmla="val 3774"/>
            </a:avLst>
          </a:prstGeom>
          <a:solidFill>
            <a:srgbClr val="0D1A2E"/>
          </a:solidFill>
          <a:ln w="12700">
            <a:solidFill>
              <a:srgbClr val="1C2F50"/>
            </a:solidFill>
            <a:prstDash val="solid"/>
          </a:ln>
        </p:spPr>
      </p:sp>
      <p:sp>
        <p:nvSpPr>
          <p:cNvPr id="27" name="Text 24"/>
          <p:cNvSpPr txBox="1"/>
          <p:nvPr/>
        </p:nvSpPr>
        <p:spPr>
          <a:xfrm>
            <a:off x="9326880" y="1463040"/>
            <a:ext cx="22860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TRAIN / TEST</a:t>
            </a:r>
            <a:endParaRPr lang="en-US" sz="1100" dirty="0"/>
          </a:p>
        </p:txBody>
      </p:sp>
      <p:sp>
        <p:nvSpPr>
          <p:cNvPr id="28" name="Text 25"/>
          <p:cNvSpPr txBox="1"/>
          <p:nvPr/>
        </p:nvSpPr>
        <p:spPr>
          <a:xfrm>
            <a:off x="9326880" y="1783080"/>
            <a:ext cx="2331720" cy="19202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9F2FF"/>
                </a:solidFill>
                <a:latin typeface="Segoe UI" pitchFamily="34" charset="0"/>
                <a:ea typeface="Segoe UI" pitchFamily="34" charset="-122"/>
                <a:cs typeface="Segoe UI" pitchFamily="34" charset="-120"/>
              </a:rPr>
              <a:t>80% train = 9,600</a:t>
            </a:r>
            <a:endParaRPr lang="en-US" sz="1200" dirty="0"/>
          </a:p>
          <a:p>
            <a:pPr marL="342900" indent="-342900">
              <a:spcAft>
                <a:spcPts val="400"/>
              </a:spcAft>
              <a:buSzPct val="100000"/>
              <a:buChar char="•"/>
            </a:pPr>
            <a:r>
              <a:rPr lang="en-US" sz="1200" dirty="0">
                <a:solidFill>
                  <a:srgbClr val="E9F2FF"/>
                </a:solidFill>
                <a:latin typeface="Segoe UI" pitchFamily="34" charset="0"/>
                <a:ea typeface="Segoe UI" pitchFamily="34" charset="-122"/>
                <a:cs typeface="Segoe UI" pitchFamily="34" charset="-120"/>
              </a:rPr>
              <a:t>20% test = 2,400</a:t>
            </a:r>
            <a:endParaRPr lang="en-US" sz="1200" dirty="0"/>
          </a:p>
          <a:p>
            <a:pPr marL="342900" indent="-342900">
              <a:spcAft>
                <a:spcPts val="400"/>
              </a:spcAft>
              <a:buSzPct val="100000"/>
              <a:buChar char="•"/>
            </a:pPr>
            <a:r>
              <a:rPr lang="en-US" sz="1200" dirty="0">
                <a:solidFill>
                  <a:srgbClr val="E9F2FF"/>
                </a:solidFill>
                <a:latin typeface="Segoe UI" pitchFamily="34" charset="0"/>
                <a:ea typeface="Segoe UI" pitchFamily="34" charset="-122"/>
                <a:cs typeface="Segoe UI" pitchFamily="34" charset="-120"/>
              </a:rPr>
              <a:t>random_state = 42</a:t>
            </a:r>
            <a:endParaRPr lang="en-US" sz="1200" dirty="0"/>
          </a:p>
          <a:p>
            <a:pPr marL="342900" indent="-342900">
              <a:spcAft>
                <a:spcPts val="400"/>
              </a:spcAft>
              <a:buSzPct val="100000"/>
              <a:buChar char="•"/>
            </a:pPr>
            <a:r>
              <a:rPr lang="en-US" sz="1200" dirty="0">
                <a:solidFill>
                  <a:srgbClr val="E9F2FF"/>
                </a:solidFill>
                <a:latin typeface="Segoe UI" pitchFamily="34" charset="0"/>
                <a:ea typeface="Segoe UI" pitchFamily="34" charset="-122"/>
                <a:cs typeface="Segoe UI" pitchFamily="34" charset="-120"/>
              </a:rPr>
              <a:t>Stratified by Congestion_Level</a:t>
            </a:r>
            <a:endParaRPr lang="en-US" sz="1200" dirty="0"/>
          </a:p>
          <a:p>
            <a:pPr marL="342900" indent="-342900">
              <a:spcAft>
                <a:spcPts val="400"/>
              </a:spcAft>
              <a:buSzPct val="100000"/>
              <a:buChar char="•"/>
            </a:pPr>
            <a:r>
              <a:rPr lang="en-US" sz="1200" dirty="0">
                <a:solidFill>
                  <a:srgbClr val="E9F2FF"/>
                </a:solidFill>
                <a:latin typeface="Segoe UI" pitchFamily="34" charset="0"/>
                <a:ea typeface="Segoe UI" pitchFamily="34" charset="-122"/>
                <a:cs typeface="Segoe UI" pitchFamily="34" charset="-120"/>
              </a:rPr>
              <a:t>100 trees per model</a:t>
            </a:r>
            <a:endParaRPr lang="en-US" sz="1200" dirty="0"/>
          </a:p>
        </p:txBody>
      </p:sp>
      <p:sp>
        <p:nvSpPr>
          <p:cNvPr id="29" name="Shape 26"/>
          <p:cNvSpPr/>
          <p:nvPr/>
        </p:nvSpPr>
        <p:spPr>
          <a:xfrm>
            <a:off x="457200" y="4023360"/>
            <a:ext cx="5577840" cy="2148840"/>
          </a:xfrm>
          <a:prstGeom prst="roundRect">
            <a:avLst>
              <a:gd name="adj" fmla="val 4255"/>
            </a:avLst>
          </a:prstGeom>
          <a:solidFill>
            <a:srgbClr val="0D1A2E"/>
          </a:solidFill>
          <a:ln w="12700">
            <a:solidFill>
              <a:srgbClr val="1C2F50"/>
            </a:solidFill>
            <a:prstDash val="solid"/>
          </a:ln>
        </p:spPr>
      </p:sp>
      <p:sp>
        <p:nvSpPr>
          <p:cNvPr id="30" name="Text 27"/>
          <p:cNvSpPr txBox="1"/>
          <p:nvPr/>
        </p:nvSpPr>
        <p:spPr>
          <a:xfrm>
            <a:off x="640080" y="4114800"/>
            <a:ext cx="45720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WHY RANDOM FOREST?</a:t>
            </a:r>
            <a:endParaRPr lang="en-US" sz="1100" dirty="0"/>
          </a:p>
        </p:txBody>
      </p:sp>
      <p:sp>
        <p:nvSpPr>
          <p:cNvPr id="31" name="Text 28"/>
          <p:cNvSpPr txBox="1"/>
          <p:nvPr/>
        </p:nvSpPr>
        <p:spPr>
          <a:xfrm>
            <a:off x="640080" y="4434840"/>
            <a:ext cx="5212080"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Handles numeric and encoded categorical features together</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Captures non-linear relationships (e.g. hour × traffic)</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Works for both regression and classification</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Provides feature-importance scores</a:t>
            </a:r>
            <a:endParaRPr lang="en-US" sz="1200" dirty="0"/>
          </a:p>
        </p:txBody>
      </p:sp>
      <p:sp>
        <p:nvSpPr>
          <p:cNvPr id="32" name="Shape 29"/>
          <p:cNvSpPr/>
          <p:nvPr/>
        </p:nvSpPr>
        <p:spPr>
          <a:xfrm>
            <a:off x="6172200" y="4023360"/>
            <a:ext cx="5577840" cy="2148840"/>
          </a:xfrm>
          <a:prstGeom prst="roundRect">
            <a:avLst>
              <a:gd name="adj" fmla="val 4255"/>
            </a:avLst>
          </a:prstGeom>
          <a:solidFill>
            <a:srgbClr val="0D1A2E"/>
          </a:solidFill>
          <a:ln w="12700">
            <a:solidFill>
              <a:srgbClr val="F59E0B"/>
            </a:solidFill>
            <a:prstDash val="solid"/>
          </a:ln>
        </p:spPr>
      </p:sp>
      <p:sp>
        <p:nvSpPr>
          <p:cNvPr id="33" name="Text 30"/>
          <p:cNvSpPr txBox="1"/>
          <p:nvPr/>
        </p:nvSpPr>
        <p:spPr>
          <a:xfrm>
            <a:off x="6355080" y="4114800"/>
            <a:ext cx="5029200" cy="274320"/>
          </a:xfrm>
          <a:prstGeom prst="rect">
            <a:avLst/>
          </a:prstGeom>
          <a:noFill/>
          <a:ln/>
        </p:spPr>
        <p:txBody>
          <a:bodyPr wrap="square" lIns="0" tIns="0" rIns="0" bIns="0" rtlCol="0" anchor="t"/>
          <a:lstStyle/>
          <a:p>
            <a:pPr indent="0" marL="0">
              <a:buNone/>
            </a:pPr>
            <a:r>
              <a:rPr lang="en-US" sz="1100" b="1" spc="200" kern="0" dirty="0">
                <a:solidFill>
                  <a:srgbClr val="F59E0B"/>
                </a:solidFill>
                <a:latin typeface="Segoe UI" pitchFamily="34" charset="0"/>
                <a:ea typeface="Segoe UI" pitchFamily="34" charset="-122"/>
                <a:cs typeface="Segoe UI" pitchFamily="34" charset="-120"/>
              </a:rPr>
              <a:t>DESIGN CHOICES FROM THE NOTEBOOK</a:t>
            </a:r>
            <a:endParaRPr lang="en-US" sz="1100" dirty="0"/>
          </a:p>
        </p:txBody>
      </p:sp>
      <p:sp>
        <p:nvSpPr>
          <p:cNvPr id="34" name="Text 31"/>
          <p:cNvSpPr txBox="1"/>
          <p:nvPr/>
        </p:nvSpPr>
        <p:spPr>
          <a:xfrm>
            <a:off x="6355080" y="4434840"/>
            <a:ext cx="5212080" cy="16459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Occupancy_Rate and Queue_Length are not model inputs (they define the congestion label)</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Classifier uses class_weight = "balanced"</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Classifier also uses Predicted_Demand_kWh as a feature</a:t>
            </a:r>
            <a:endParaRPr lang="en-US" sz="1200" dirty="0"/>
          </a:p>
          <a:p>
            <a:pPr marL="342900" indent="-342900">
              <a:spcAft>
                <a:spcPts val="500"/>
              </a:spcAft>
              <a:buSzPct val="100000"/>
              <a:buChar char="•"/>
            </a:pPr>
            <a:r>
              <a:rPr lang="en-US" sz="1200" dirty="0">
                <a:solidFill>
                  <a:srgbClr val="E9F2FF"/>
                </a:solidFill>
                <a:latin typeface="Segoe UI" pitchFamily="34" charset="0"/>
                <a:ea typeface="Segoe UI" pitchFamily="34" charset="-122"/>
                <a:cs typeface="Segoe UI" pitchFamily="34" charset="-120"/>
              </a:rPr>
              <a:t>Models then score all 12,000 records for Power BI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Model Results</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Evaluated on the 2,400-record hold-out test set</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7 / 11</a:t>
            </a:r>
            <a:endParaRPr lang="en-US" sz="1000" dirty="0"/>
          </a:p>
        </p:txBody>
      </p:sp>
      <p:sp>
        <p:nvSpPr>
          <p:cNvPr id="7" name="Text 4"/>
          <p:cNvSpPr txBox="1"/>
          <p:nvPr/>
        </p:nvSpPr>
        <p:spPr>
          <a:xfrm>
            <a:off x="457200" y="1280160"/>
            <a:ext cx="54864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DEMAND PREDICTION  |  Random Forest Regressor</a:t>
            </a:r>
            <a:endParaRPr lang="en-US" sz="1100" dirty="0"/>
          </a:p>
        </p:txBody>
      </p:sp>
      <p:sp>
        <p:nvSpPr>
          <p:cNvPr id="8" name="Shape 5"/>
          <p:cNvSpPr/>
          <p:nvPr/>
        </p:nvSpPr>
        <p:spPr>
          <a:xfrm>
            <a:off x="457200" y="1600200"/>
            <a:ext cx="1737360" cy="1143000"/>
          </a:xfrm>
          <a:prstGeom prst="roundRect">
            <a:avLst>
              <a:gd name="adj" fmla="val 8000"/>
            </a:avLst>
          </a:prstGeom>
          <a:solidFill>
            <a:srgbClr val="0D1A2E"/>
          </a:solidFill>
          <a:ln w="12700">
            <a:solidFill>
              <a:srgbClr val="2DD4BF"/>
            </a:solidFill>
            <a:prstDash val="solid"/>
          </a:ln>
        </p:spPr>
      </p:sp>
      <p:sp>
        <p:nvSpPr>
          <p:cNvPr id="9" name="Text 6"/>
          <p:cNvSpPr txBox="1"/>
          <p:nvPr/>
        </p:nvSpPr>
        <p:spPr>
          <a:xfrm>
            <a:off x="594360" y="1691640"/>
            <a:ext cx="1463040" cy="2743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MAE</a:t>
            </a:r>
            <a:endParaRPr lang="en-US" sz="1200" dirty="0"/>
          </a:p>
        </p:txBody>
      </p:sp>
      <p:sp>
        <p:nvSpPr>
          <p:cNvPr id="10" name="Text 7"/>
          <p:cNvSpPr txBox="1"/>
          <p:nvPr/>
        </p:nvSpPr>
        <p:spPr>
          <a:xfrm>
            <a:off x="594360" y="2011680"/>
            <a:ext cx="1508760" cy="548640"/>
          </a:xfrm>
          <a:prstGeom prst="rect">
            <a:avLst/>
          </a:prstGeom>
          <a:noFill/>
          <a:ln/>
        </p:spPr>
        <p:txBody>
          <a:bodyPr wrap="square" lIns="0" tIns="0" rIns="0" bIns="0" rtlCol="0" anchor="t"/>
          <a:lstStyle/>
          <a:p>
            <a:pPr indent="0" marL="0">
              <a:buNone/>
            </a:pPr>
            <a:r>
              <a:rPr lang="en-US" sz="2200" b="1" dirty="0">
                <a:solidFill>
                  <a:srgbClr val="2DD4BF"/>
                </a:solidFill>
                <a:latin typeface="Segoe UI" pitchFamily="34" charset="0"/>
                <a:ea typeface="Segoe UI" pitchFamily="34" charset="-122"/>
                <a:cs typeface="Segoe UI" pitchFamily="34" charset="-120"/>
              </a:rPr>
              <a:t>2.52 kWh</a:t>
            </a:r>
            <a:endParaRPr lang="en-US" sz="2200" dirty="0"/>
          </a:p>
        </p:txBody>
      </p:sp>
      <p:sp>
        <p:nvSpPr>
          <p:cNvPr id="11" name="Shape 8"/>
          <p:cNvSpPr/>
          <p:nvPr/>
        </p:nvSpPr>
        <p:spPr>
          <a:xfrm>
            <a:off x="2331720" y="1600200"/>
            <a:ext cx="1737360" cy="1143000"/>
          </a:xfrm>
          <a:prstGeom prst="roundRect">
            <a:avLst>
              <a:gd name="adj" fmla="val 8000"/>
            </a:avLst>
          </a:prstGeom>
          <a:solidFill>
            <a:srgbClr val="0D1A2E"/>
          </a:solidFill>
          <a:ln w="12700">
            <a:solidFill>
              <a:srgbClr val="4F8CFF"/>
            </a:solidFill>
            <a:prstDash val="solid"/>
          </a:ln>
        </p:spPr>
      </p:sp>
      <p:sp>
        <p:nvSpPr>
          <p:cNvPr id="12" name="Text 9"/>
          <p:cNvSpPr txBox="1"/>
          <p:nvPr/>
        </p:nvSpPr>
        <p:spPr>
          <a:xfrm>
            <a:off x="2468880" y="1691640"/>
            <a:ext cx="1463040" cy="2743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RMSE</a:t>
            </a:r>
            <a:endParaRPr lang="en-US" sz="1200" dirty="0"/>
          </a:p>
        </p:txBody>
      </p:sp>
      <p:sp>
        <p:nvSpPr>
          <p:cNvPr id="13" name="Text 10"/>
          <p:cNvSpPr txBox="1"/>
          <p:nvPr/>
        </p:nvSpPr>
        <p:spPr>
          <a:xfrm>
            <a:off x="2468880" y="2011680"/>
            <a:ext cx="1508760" cy="548640"/>
          </a:xfrm>
          <a:prstGeom prst="rect">
            <a:avLst/>
          </a:prstGeom>
          <a:noFill/>
          <a:ln/>
        </p:spPr>
        <p:txBody>
          <a:bodyPr wrap="square" lIns="0" tIns="0" rIns="0" bIns="0" rtlCol="0" anchor="t"/>
          <a:lstStyle/>
          <a:p>
            <a:pPr indent="0" marL="0">
              <a:buNone/>
            </a:pPr>
            <a:r>
              <a:rPr lang="en-US" sz="2200" b="1" dirty="0">
                <a:solidFill>
                  <a:srgbClr val="4F8CFF"/>
                </a:solidFill>
                <a:latin typeface="Segoe UI" pitchFamily="34" charset="0"/>
                <a:ea typeface="Segoe UI" pitchFamily="34" charset="-122"/>
                <a:cs typeface="Segoe UI" pitchFamily="34" charset="-120"/>
              </a:rPr>
              <a:t>3.34 kWh</a:t>
            </a:r>
            <a:endParaRPr lang="en-US" sz="2200" dirty="0"/>
          </a:p>
        </p:txBody>
      </p:sp>
      <p:sp>
        <p:nvSpPr>
          <p:cNvPr id="14" name="Shape 11"/>
          <p:cNvSpPr/>
          <p:nvPr/>
        </p:nvSpPr>
        <p:spPr>
          <a:xfrm>
            <a:off x="4206240" y="1600200"/>
            <a:ext cx="1737360" cy="1143000"/>
          </a:xfrm>
          <a:prstGeom prst="roundRect">
            <a:avLst>
              <a:gd name="adj" fmla="val 8000"/>
            </a:avLst>
          </a:prstGeom>
          <a:solidFill>
            <a:srgbClr val="0D1A2E"/>
          </a:solidFill>
          <a:ln w="12700">
            <a:solidFill>
              <a:srgbClr val="22C55E"/>
            </a:solidFill>
            <a:prstDash val="solid"/>
          </a:ln>
        </p:spPr>
      </p:sp>
      <p:sp>
        <p:nvSpPr>
          <p:cNvPr id="15" name="Text 12"/>
          <p:cNvSpPr txBox="1"/>
          <p:nvPr/>
        </p:nvSpPr>
        <p:spPr>
          <a:xfrm>
            <a:off x="4343400" y="1691640"/>
            <a:ext cx="1463040" cy="274320"/>
          </a:xfrm>
          <a:prstGeom prst="rect">
            <a:avLst/>
          </a:prstGeom>
          <a:noFill/>
          <a:ln/>
        </p:spPr>
        <p:txBody>
          <a:bodyPr wrap="square" lIns="0" tIns="0" rIns="0" bIns="0" rtlCol="0" anchor="t"/>
          <a:lstStyle/>
          <a:p>
            <a:pPr indent="0" marL="0">
              <a:buNone/>
            </a:pPr>
            <a:r>
              <a:rPr lang="en-US" sz="1200" dirty="0">
                <a:solidFill>
                  <a:srgbClr val="8FA4C6"/>
                </a:solidFill>
                <a:latin typeface="Segoe UI" pitchFamily="34" charset="0"/>
                <a:ea typeface="Segoe UI" pitchFamily="34" charset="-122"/>
                <a:cs typeface="Segoe UI" pitchFamily="34" charset="-120"/>
              </a:rPr>
              <a:t>R²</a:t>
            </a:r>
            <a:endParaRPr lang="en-US" sz="1200" dirty="0"/>
          </a:p>
        </p:txBody>
      </p:sp>
      <p:sp>
        <p:nvSpPr>
          <p:cNvPr id="16" name="Text 13"/>
          <p:cNvSpPr txBox="1"/>
          <p:nvPr/>
        </p:nvSpPr>
        <p:spPr>
          <a:xfrm>
            <a:off x="4343400" y="2011680"/>
            <a:ext cx="1508760" cy="548640"/>
          </a:xfrm>
          <a:prstGeom prst="rect">
            <a:avLst/>
          </a:prstGeom>
          <a:noFill/>
          <a:ln/>
        </p:spPr>
        <p:txBody>
          <a:bodyPr wrap="square" lIns="0" tIns="0" rIns="0" bIns="0" rtlCol="0" anchor="t"/>
          <a:lstStyle/>
          <a:p>
            <a:pPr indent="0" marL="0">
              <a:buNone/>
            </a:pPr>
            <a:r>
              <a:rPr lang="en-US" sz="2200" b="1" dirty="0">
                <a:solidFill>
                  <a:srgbClr val="22C55E"/>
                </a:solidFill>
                <a:latin typeface="Segoe UI" pitchFamily="34" charset="0"/>
                <a:ea typeface="Segoe UI" pitchFamily="34" charset="-122"/>
                <a:cs typeface="Segoe UI" pitchFamily="34" charset="-120"/>
              </a:rPr>
              <a:t>0.847</a:t>
            </a:r>
            <a:endParaRPr lang="en-US" sz="2200" dirty="0"/>
          </a:p>
        </p:txBody>
      </p:sp>
      <p:sp>
        <p:nvSpPr>
          <p:cNvPr id="17" name="Text 14"/>
          <p:cNvSpPr txBox="1"/>
          <p:nvPr/>
        </p:nvSpPr>
        <p:spPr>
          <a:xfrm>
            <a:off x="457200" y="2926080"/>
            <a:ext cx="5943600" cy="274320"/>
          </a:xfrm>
          <a:prstGeom prst="rect">
            <a:avLst/>
          </a:prstGeom>
          <a:noFill/>
          <a:ln/>
        </p:spPr>
        <p:txBody>
          <a:bodyPr wrap="square" lIns="0" tIns="0" rIns="0" bIns="0" rtlCol="0" anchor="t"/>
          <a:lstStyle/>
          <a:p>
            <a:pPr indent="0" marL="0">
              <a:buNone/>
            </a:pPr>
            <a:r>
              <a:rPr lang="en-US" sz="1100" b="1" spc="200" kern="0" dirty="0">
                <a:solidFill>
                  <a:srgbClr val="F59E0B"/>
                </a:solidFill>
                <a:latin typeface="Segoe UI" pitchFamily="34" charset="0"/>
                <a:ea typeface="Segoe UI" pitchFamily="34" charset="-122"/>
                <a:cs typeface="Segoe UI" pitchFamily="34" charset="-120"/>
              </a:rPr>
              <a:t>CONGESTION PREDICTION  |  RF Classifier (weighted avg)</a:t>
            </a:r>
            <a:endParaRPr lang="en-US" sz="1100" dirty="0"/>
          </a:p>
        </p:txBody>
      </p:sp>
      <p:sp>
        <p:nvSpPr>
          <p:cNvPr id="18" name="Shape 15"/>
          <p:cNvSpPr/>
          <p:nvPr/>
        </p:nvSpPr>
        <p:spPr>
          <a:xfrm>
            <a:off x="457200" y="3246120"/>
            <a:ext cx="1280160" cy="1143000"/>
          </a:xfrm>
          <a:prstGeom prst="roundRect">
            <a:avLst>
              <a:gd name="adj" fmla="val 8000"/>
            </a:avLst>
          </a:prstGeom>
          <a:solidFill>
            <a:srgbClr val="0D1A2E"/>
          </a:solidFill>
          <a:ln w="12700">
            <a:solidFill>
              <a:srgbClr val="F59E0B"/>
            </a:solidFill>
            <a:prstDash val="solid"/>
          </a:ln>
        </p:spPr>
      </p:sp>
      <p:sp>
        <p:nvSpPr>
          <p:cNvPr id="19" name="Text 16"/>
          <p:cNvSpPr txBox="1"/>
          <p:nvPr/>
        </p:nvSpPr>
        <p:spPr>
          <a:xfrm>
            <a:off x="566928" y="3337560"/>
            <a:ext cx="109728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Accuracy</a:t>
            </a:r>
            <a:endParaRPr lang="en-US" sz="1100" dirty="0"/>
          </a:p>
        </p:txBody>
      </p:sp>
      <p:sp>
        <p:nvSpPr>
          <p:cNvPr id="20" name="Text 17"/>
          <p:cNvSpPr txBox="1"/>
          <p:nvPr/>
        </p:nvSpPr>
        <p:spPr>
          <a:xfrm>
            <a:off x="566928" y="3657600"/>
            <a:ext cx="1097280" cy="548640"/>
          </a:xfrm>
          <a:prstGeom prst="rect">
            <a:avLst/>
          </a:prstGeom>
          <a:noFill/>
          <a:ln/>
        </p:spPr>
        <p:txBody>
          <a:bodyPr wrap="square" lIns="0" tIns="0" rIns="0" bIns="0" rtlCol="0" anchor="t"/>
          <a:lstStyle/>
          <a:p>
            <a:pPr indent="0" marL="0">
              <a:buNone/>
            </a:pPr>
            <a:r>
              <a:rPr lang="en-US" sz="2200" b="1" dirty="0">
                <a:solidFill>
                  <a:srgbClr val="F59E0B"/>
                </a:solidFill>
                <a:latin typeface="Segoe UI" pitchFamily="34" charset="0"/>
                <a:ea typeface="Segoe UI" pitchFamily="34" charset="-122"/>
                <a:cs typeface="Segoe UI" pitchFamily="34" charset="-120"/>
              </a:rPr>
              <a:t>0.680</a:t>
            </a:r>
            <a:endParaRPr lang="en-US" sz="2200" dirty="0"/>
          </a:p>
        </p:txBody>
      </p:sp>
      <p:sp>
        <p:nvSpPr>
          <p:cNvPr id="21" name="Shape 18"/>
          <p:cNvSpPr/>
          <p:nvPr/>
        </p:nvSpPr>
        <p:spPr>
          <a:xfrm>
            <a:off x="1874520" y="3246120"/>
            <a:ext cx="1280160" cy="1143000"/>
          </a:xfrm>
          <a:prstGeom prst="roundRect">
            <a:avLst>
              <a:gd name="adj" fmla="val 8000"/>
            </a:avLst>
          </a:prstGeom>
          <a:solidFill>
            <a:srgbClr val="0D1A2E"/>
          </a:solidFill>
          <a:ln w="12700">
            <a:solidFill>
              <a:srgbClr val="4F8CFF"/>
            </a:solidFill>
            <a:prstDash val="solid"/>
          </a:ln>
        </p:spPr>
      </p:sp>
      <p:sp>
        <p:nvSpPr>
          <p:cNvPr id="22" name="Text 19"/>
          <p:cNvSpPr txBox="1"/>
          <p:nvPr/>
        </p:nvSpPr>
        <p:spPr>
          <a:xfrm>
            <a:off x="1984248" y="3337560"/>
            <a:ext cx="109728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Precision</a:t>
            </a:r>
            <a:endParaRPr lang="en-US" sz="1100" dirty="0"/>
          </a:p>
        </p:txBody>
      </p:sp>
      <p:sp>
        <p:nvSpPr>
          <p:cNvPr id="23" name="Text 20"/>
          <p:cNvSpPr txBox="1"/>
          <p:nvPr/>
        </p:nvSpPr>
        <p:spPr>
          <a:xfrm>
            <a:off x="1984248" y="3657600"/>
            <a:ext cx="1097280" cy="548640"/>
          </a:xfrm>
          <a:prstGeom prst="rect">
            <a:avLst/>
          </a:prstGeom>
          <a:noFill/>
          <a:ln/>
        </p:spPr>
        <p:txBody>
          <a:bodyPr wrap="square" lIns="0" tIns="0" rIns="0" bIns="0" rtlCol="0" anchor="t"/>
          <a:lstStyle/>
          <a:p>
            <a:pPr indent="0" marL="0">
              <a:buNone/>
            </a:pPr>
            <a:r>
              <a:rPr lang="en-US" sz="2200" b="1" dirty="0">
                <a:solidFill>
                  <a:srgbClr val="4F8CFF"/>
                </a:solidFill>
                <a:latin typeface="Segoe UI" pitchFamily="34" charset="0"/>
                <a:ea typeface="Segoe UI" pitchFamily="34" charset="-122"/>
                <a:cs typeface="Segoe UI" pitchFamily="34" charset="-120"/>
              </a:rPr>
              <a:t>0.685</a:t>
            </a:r>
            <a:endParaRPr lang="en-US" sz="2200" dirty="0"/>
          </a:p>
        </p:txBody>
      </p:sp>
      <p:sp>
        <p:nvSpPr>
          <p:cNvPr id="24" name="Shape 21"/>
          <p:cNvSpPr/>
          <p:nvPr/>
        </p:nvSpPr>
        <p:spPr>
          <a:xfrm>
            <a:off x="3291840" y="3246120"/>
            <a:ext cx="1280160" cy="1143000"/>
          </a:xfrm>
          <a:prstGeom prst="roundRect">
            <a:avLst>
              <a:gd name="adj" fmla="val 8000"/>
            </a:avLst>
          </a:prstGeom>
          <a:solidFill>
            <a:srgbClr val="0D1A2E"/>
          </a:solidFill>
          <a:ln w="12700">
            <a:solidFill>
              <a:srgbClr val="2DD4BF"/>
            </a:solidFill>
            <a:prstDash val="solid"/>
          </a:ln>
        </p:spPr>
      </p:sp>
      <p:sp>
        <p:nvSpPr>
          <p:cNvPr id="25" name="Text 22"/>
          <p:cNvSpPr txBox="1"/>
          <p:nvPr/>
        </p:nvSpPr>
        <p:spPr>
          <a:xfrm>
            <a:off x="3401568" y="3337560"/>
            <a:ext cx="109728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Recall</a:t>
            </a:r>
            <a:endParaRPr lang="en-US" sz="1100" dirty="0"/>
          </a:p>
        </p:txBody>
      </p:sp>
      <p:sp>
        <p:nvSpPr>
          <p:cNvPr id="26" name="Text 23"/>
          <p:cNvSpPr txBox="1"/>
          <p:nvPr/>
        </p:nvSpPr>
        <p:spPr>
          <a:xfrm>
            <a:off x="3401568" y="3657600"/>
            <a:ext cx="1097280" cy="548640"/>
          </a:xfrm>
          <a:prstGeom prst="rect">
            <a:avLst/>
          </a:prstGeom>
          <a:noFill/>
          <a:ln/>
        </p:spPr>
        <p:txBody>
          <a:bodyPr wrap="square" lIns="0" tIns="0" rIns="0" bIns="0" rtlCol="0" anchor="t"/>
          <a:lstStyle/>
          <a:p>
            <a:pPr indent="0" marL="0">
              <a:buNone/>
            </a:pPr>
            <a:r>
              <a:rPr lang="en-US" sz="2200" b="1" dirty="0">
                <a:solidFill>
                  <a:srgbClr val="2DD4BF"/>
                </a:solidFill>
                <a:latin typeface="Segoe UI" pitchFamily="34" charset="0"/>
                <a:ea typeface="Segoe UI" pitchFamily="34" charset="-122"/>
                <a:cs typeface="Segoe UI" pitchFamily="34" charset="-120"/>
              </a:rPr>
              <a:t>0.680</a:t>
            </a:r>
            <a:endParaRPr lang="en-US" sz="2200" dirty="0"/>
          </a:p>
        </p:txBody>
      </p:sp>
      <p:sp>
        <p:nvSpPr>
          <p:cNvPr id="27" name="Shape 24"/>
          <p:cNvSpPr/>
          <p:nvPr/>
        </p:nvSpPr>
        <p:spPr>
          <a:xfrm>
            <a:off x="4709160" y="3246120"/>
            <a:ext cx="1280160" cy="1143000"/>
          </a:xfrm>
          <a:prstGeom prst="roundRect">
            <a:avLst>
              <a:gd name="adj" fmla="val 8000"/>
            </a:avLst>
          </a:prstGeom>
          <a:solidFill>
            <a:srgbClr val="0D1A2E"/>
          </a:solidFill>
          <a:ln w="12700">
            <a:solidFill>
              <a:srgbClr val="22C55E"/>
            </a:solidFill>
            <a:prstDash val="solid"/>
          </a:ln>
        </p:spPr>
      </p:sp>
      <p:sp>
        <p:nvSpPr>
          <p:cNvPr id="28" name="Text 25"/>
          <p:cNvSpPr txBox="1"/>
          <p:nvPr/>
        </p:nvSpPr>
        <p:spPr>
          <a:xfrm>
            <a:off x="4818888" y="3337560"/>
            <a:ext cx="1097280" cy="27432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F1 Score</a:t>
            </a:r>
            <a:endParaRPr lang="en-US" sz="1100" dirty="0"/>
          </a:p>
        </p:txBody>
      </p:sp>
      <p:sp>
        <p:nvSpPr>
          <p:cNvPr id="29" name="Text 26"/>
          <p:cNvSpPr txBox="1"/>
          <p:nvPr/>
        </p:nvSpPr>
        <p:spPr>
          <a:xfrm>
            <a:off x="4818888" y="3657600"/>
            <a:ext cx="1097280" cy="548640"/>
          </a:xfrm>
          <a:prstGeom prst="rect">
            <a:avLst/>
          </a:prstGeom>
          <a:noFill/>
          <a:ln/>
        </p:spPr>
        <p:txBody>
          <a:bodyPr wrap="square" lIns="0" tIns="0" rIns="0" bIns="0" rtlCol="0" anchor="t"/>
          <a:lstStyle/>
          <a:p>
            <a:pPr indent="0" marL="0">
              <a:buNone/>
            </a:pPr>
            <a:r>
              <a:rPr lang="en-US" sz="2200" b="1" dirty="0">
                <a:solidFill>
                  <a:srgbClr val="22C55E"/>
                </a:solidFill>
                <a:latin typeface="Segoe UI" pitchFamily="34" charset="0"/>
                <a:ea typeface="Segoe UI" pitchFamily="34" charset="-122"/>
                <a:cs typeface="Segoe UI" pitchFamily="34" charset="-120"/>
              </a:rPr>
              <a:t>0.679</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617720"/>
          <a:ext cx="5577840" cy="914400"/>
        </p:xfrm>
        <a:graphic>
          <a:graphicData uri="http://schemas.openxmlformats.org/drawingml/2006/table">
            <a:tbl>
              <a:tblPr/>
              <a:tblGrid>
                <a:gridCol w="1188720"/>
                <a:gridCol w="1097280"/>
                <a:gridCol w="1097280"/>
                <a:gridCol w="1097280"/>
                <a:gridCol w="1097280"/>
              </a:tblGrid>
              <a:tr h="274320">
                <a:tc>
                  <a:txBody>
                    <a:bodyPr/>
                    <a:lstStyle/>
                    <a:p>
                      <a:pPr algn="ctr" indent="0" marL="0">
                        <a:buNone/>
                      </a:pPr>
                      <a:r>
                        <a:rPr lang="en-US" sz="1100" b="1" dirty="0">
                          <a:solidFill>
                            <a:srgbClr val="2DD4BF"/>
                          </a:solidFill>
                          <a:latin typeface="Segoe UI" pitchFamily="34" charset="0"/>
                          <a:ea typeface="Segoe UI" pitchFamily="34" charset="-122"/>
                          <a:cs typeface="Segoe UI" pitchFamily="34" charset="-120"/>
                        </a:rPr>
                        <a:t>Class</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algn="ctr" indent="0" marL="0">
                        <a:buNone/>
                      </a:pPr>
                      <a:r>
                        <a:rPr lang="en-US" sz="1100" b="1" dirty="0">
                          <a:solidFill>
                            <a:srgbClr val="2DD4BF"/>
                          </a:solidFill>
                          <a:latin typeface="Segoe UI" pitchFamily="34" charset="0"/>
                          <a:ea typeface="Segoe UI" pitchFamily="34" charset="-122"/>
                          <a:cs typeface="Segoe UI" pitchFamily="34" charset="-120"/>
                        </a:rPr>
                        <a:t>Precision</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algn="ctr" indent="0" marL="0">
                        <a:buNone/>
                      </a:pPr>
                      <a:r>
                        <a:rPr lang="en-US" sz="1100" b="1" dirty="0">
                          <a:solidFill>
                            <a:srgbClr val="2DD4BF"/>
                          </a:solidFill>
                          <a:latin typeface="Segoe UI" pitchFamily="34" charset="0"/>
                          <a:ea typeface="Segoe UI" pitchFamily="34" charset="-122"/>
                          <a:cs typeface="Segoe UI" pitchFamily="34" charset="-120"/>
                        </a:rPr>
                        <a:t>Recall</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algn="ctr" indent="0" marL="0">
                        <a:buNone/>
                      </a:pPr>
                      <a:r>
                        <a:rPr lang="en-US" sz="1100" b="1" dirty="0">
                          <a:solidFill>
                            <a:srgbClr val="2DD4BF"/>
                          </a:solidFill>
                          <a:latin typeface="Segoe UI" pitchFamily="34" charset="0"/>
                          <a:ea typeface="Segoe UI" pitchFamily="34" charset="-122"/>
                          <a:cs typeface="Segoe UI" pitchFamily="34" charset="-120"/>
                        </a:rPr>
                        <a:t>F1</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c>
                  <a:txBody>
                    <a:bodyPr/>
                    <a:lstStyle/>
                    <a:p>
                      <a:pPr algn="ctr" indent="0" marL="0">
                        <a:buNone/>
                      </a:pPr>
                      <a:r>
                        <a:rPr lang="en-US" sz="1100" b="1" dirty="0">
                          <a:solidFill>
                            <a:srgbClr val="2DD4BF"/>
                          </a:solidFill>
                          <a:latin typeface="Segoe UI" pitchFamily="34" charset="0"/>
                          <a:ea typeface="Segoe UI" pitchFamily="34" charset="-122"/>
                          <a:cs typeface="Segoe UI" pitchFamily="34" charset="-120"/>
                        </a:rPr>
                        <a:t>Support</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1C2F50"/>
                    </a:solidFill>
                  </a:tcPr>
                </a:tc>
              </a:tr>
              <a:tr h="274320">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High</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0.76</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0.66</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0.71</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553</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274320">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Low</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0.69</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0.59</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0.64</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705</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r h="274320">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Medium</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0.64</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0.74</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0.69</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c>
                  <a:txBody>
                    <a:bodyPr/>
                    <a:lstStyle/>
                    <a:p>
                      <a:pPr algn="ctr" indent="0" marL="0">
                        <a:buNone/>
                      </a:pPr>
                      <a:r>
                        <a:rPr lang="en-US" sz="1100" dirty="0">
                          <a:solidFill>
                            <a:srgbClr val="E9F2FF"/>
                          </a:solidFill>
                          <a:latin typeface="Segoe UI" pitchFamily="34" charset="0"/>
                          <a:ea typeface="Segoe UI" pitchFamily="34" charset="-122"/>
                          <a:cs typeface="Segoe UI" pitchFamily="34" charset="-120"/>
                        </a:rPr>
                        <a:t>1,142</a:t>
                      </a:r>
                      <a:endParaRPr lang="en-US" sz="1100" dirty="0">
                        <a:latin typeface="Segoe UI" charset="0"/>
                        <a:ea typeface="Segoe UI" charset="0"/>
                        <a:cs typeface="Segoe UI" charset="0"/>
                      </a:endParaRPr>
                    </a:p>
                  </a:txBody>
                  <a:tcPr marL="91440" marR="91440" marT="45720" marB="45720">
                    <a:lnL w="6350" cap="flat" cmpd="sng" algn="ctr">
                      <a:solidFill>
                        <a:srgbClr val="1C2F50"/>
                      </a:solidFill>
                      <a:prstDash val="solid"/>
                      <a:round/>
                      <a:headEnd type="none" w="med" len="med"/>
                      <a:tailEnd type="none" w="med" len="med"/>
                    </a:lnL>
                    <a:lnR w="6350" cap="flat" cmpd="sng" algn="ctr">
                      <a:solidFill>
                        <a:srgbClr val="1C2F50"/>
                      </a:solidFill>
                      <a:prstDash val="solid"/>
                      <a:round/>
                      <a:headEnd type="none" w="med" len="med"/>
                      <a:tailEnd type="none" w="med" len="med"/>
                    </a:lnR>
                    <a:lnT w="6350" cap="flat" cmpd="sng" algn="ctr">
                      <a:solidFill>
                        <a:srgbClr val="1C2F50"/>
                      </a:solidFill>
                      <a:prstDash val="solid"/>
                      <a:round/>
                      <a:headEnd type="none" w="med" len="med"/>
                      <a:tailEnd type="none" w="med" len="med"/>
                    </a:lnT>
                    <a:lnB w="6350" cap="flat" cmpd="sng" algn="ctr">
                      <a:solidFill>
                        <a:srgbClr val="1C2F50"/>
                      </a:solidFill>
                      <a:prstDash val="solid"/>
                      <a:round/>
                      <a:headEnd type="none" w="med" len="med"/>
                      <a:tailEnd type="none" w="med" len="med"/>
                    </a:lnB>
                    <a:solidFill>
                      <a:srgbClr val="0D1A2E"/>
                    </a:solidFill>
                  </a:tcPr>
                </a:tc>
              </a:tr>
            </a:tbl>
          </a:graphicData>
        </a:graphic>
      </p:graphicFrame>
      <p:sp>
        <p:nvSpPr>
          <p:cNvPr id="31" name="Text 27"/>
          <p:cNvSpPr txBox="1"/>
          <p:nvPr/>
        </p:nvSpPr>
        <p:spPr>
          <a:xfrm>
            <a:off x="457200" y="5852160"/>
            <a:ext cx="5577840" cy="45720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Per-class report from the notebook (test set). Dashboard accuracy 93.6% covers all 12,000 scored records incl. training rows.</a:t>
            </a:r>
            <a:endParaRPr lang="en-US" sz="1000" dirty="0"/>
          </a:p>
        </p:txBody>
      </p:sp>
      <p:sp>
        <p:nvSpPr>
          <p:cNvPr id="32" name="Shape 28"/>
          <p:cNvSpPr/>
          <p:nvPr/>
        </p:nvSpPr>
        <p:spPr>
          <a:xfrm>
            <a:off x="6309360" y="1280160"/>
            <a:ext cx="5440680" cy="4983480"/>
          </a:xfrm>
          <a:prstGeom prst="roundRect">
            <a:avLst>
              <a:gd name="adj" fmla="val 1835"/>
            </a:avLst>
          </a:prstGeom>
          <a:solidFill>
            <a:srgbClr val="0D1A2E"/>
          </a:solidFill>
          <a:ln w="12700">
            <a:solidFill>
              <a:srgbClr val="1C2F50"/>
            </a:solidFill>
            <a:prstDash val="solid"/>
          </a:ln>
        </p:spPr>
      </p:sp>
      <p:sp>
        <p:nvSpPr>
          <p:cNvPr id="33" name="Text 29"/>
          <p:cNvSpPr txBox="1"/>
          <p:nvPr/>
        </p:nvSpPr>
        <p:spPr>
          <a:xfrm>
            <a:off x="6492240" y="1371600"/>
            <a:ext cx="5029200" cy="274320"/>
          </a:xfrm>
          <a:prstGeom prst="rect">
            <a:avLst/>
          </a:prstGeom>
          <a:noFill/>
          <a:ln/>
        </p:spPr>
        <p:txBody>
          <a:bodyPr wrap="square" lIns="0" tIns="0" rIns="0" bIns="0" rtlCol="0" anchor="t"/>
          <a:lstStyle/>
          <a:p>
            <a:pPr indent="0" marL="0">
              <a:buNone/>
            </a:pPr>
            <a:r>
              <a:rPr lang="en-US" sz="1100" b="1" spc="200" kern="0" dirty="0">
                <a:solidFill>
                  <a:srgbClr val="2DD4BF"/>
                </a:solidFill>
                <a:latin typeface="Segoe UI" pitchFamily="34" charset="0"/>
                <a:ea typeface="Segoe UI" pitchFamily="34" charset="-122"/>
                <a:cs typeface="Segoe UI" pitchFamily="34" charset="-120"/>
              </a:rPr>
              <a:t>ACTUAL vs PREDICTED (NOTEBOOK OUTPUT)</a:t>
            </a:r>
            <a:endParaRPr lang="en-US" sz="1100" dirty="0"/>
          </a:p>
        </p:txBody>
      </p:sp>
      <p:sp>
        <p:nvSpPr>
          <p:cNvPr id="34" name="Shape 30"/>
          <p:cNvSpPr/>
          <p:nvPr/>
        </p:nvSpPr>
        <p:spPr>
          <a:xfrm>
            <a:off x="6492240" y="1737360"/>
            <a:ext cx="5074920" cy="4389120"/>
          </a:xfrm>
          <a:prstGeom prst="roundRect">
            <a:avLst>
              <a:gd name="adj" fmla="val 1250"/>
            </a:avLst>
          </a:prstGeom>
          <a:solidFill>
            <a:srgbClr val="FFFFFF"/>
          </a:solidFill>
          <a:ln w="12700">
            <a:solidFill>
              <a:srgbClr val="FFFFFF"/>
            </a:solidFill>
            <a:prstDash val="solid"/>
          </a:ln>
        </p:spPr>
      </p:sp>
      <p:pic>
        <p:nvPicPr>
          <p:cNvPr id="35" name="Image 0" descr="/tmp/avp.png">    </p:cNvPr>
          <p:cNvPicPr>
            <a:picLocks noChangeAspect="1"/>
          </p:cNvPicPr>
          <p:nvPr/>
        </p:nvPicPr>
        <p:blipFill>
          <a:blip r:embed="rId1"/>
          <a:stretch>
            <a:fillRect/>
          </a:stretch>
        </p:blipFill>
        <p:spPr>
          <a:xfrm>
            <a:off x="6537960" y="1951729"/>
            <a:ext cx="4983480" cy="39603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Customer Feedback &amp; Feature Importance</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Feedback is summarised from the supplied sentiment labels; importance shows model reliance, not causation</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8 / 11</a:t>
            </a:r>
            <a:endParaRPr lang="en-US" sz="1000" dirty="0"/>
          </a:p>
        </p:txBody>
      </p:sp>
      <p:sp>
        <p:nvSpPr>
          <p:cNvPr id="7" name="Shape 4"/>
          <p:cNvSpPr/>
          <p:nvPr/>
        </p:nvSpPr>
        <p:spPr>
          <a:xfrm>
            <a:off x="457200" y="1371600"/>
            <a:ext cx="5394960" cy="4846320"/>
          </a:xfrm>
          <a:prstGeom prst="roundRect">
            <a:avLst>
              <a:gd name="adj" fmla="val 1887"/>
            </a:avLst>
          </a:prstGeom>
          <a:solidFill>
            <a:srgbClr val="0D1A2E"/>
          </a:solidFill>
          <a:ln w="12700">
            <a:solidFill>
              <a:srgbClr val="1C2F50"/>
            </a:solidFill>
            <a:prstDash val="solid"/>
          </a:ln>
        </p:spPr>
      </p:sp>
      <p:sp>
        <p:nvSpPr>
          <p:cNvPr id="8" name="Text 5"/>
          <p:cNvSpPr txBox="1"/>
          <p:nvPr/>
        </p:nvSpPr>
        <p:spPr>
          <a:xfrm>
            <a:off x="640080" y="1463040"/>
            <a:ext cx="4572000" cy="274320"/>
          </a:xfrm>
          <a:prstGeom prst="rect">
            <a:avLst/>
          </a:prstGeom>
          <a:noFill/>
          <a:ln/>
        </p:spPr>
        <p:txBody>
          <a:bodyPr wrap="square" lIns="0" tIns="0" rIns="0" bIns="0" rtlCol="0" anchor="t"/>
          <a:lstStyle/>
          <a:p>
            <a:pPr indent="0" marL="0">
              <a:buNone/>
            </a:pPr>
            <a:r>
              <a:rPr lang="en-US" sz="1100" b="1" spc="200" kern="0" dirty="0">
                <a:solidFill>
                  <a:srgbClr val="22C55E"/>
                </a:solidFill>
                <a:latin typeface="Segoe UI" pitchFamily="34" charset="0"/>
                <a:ea typeface="Segoe UI" pitchFamily="34" charset="-122"/>
                <a:cs typeface="Segoe UI" pitchFamily="34" charset="-120"/>
              </a:rPr>
              <a:t>CUSTOMER FEEDBACK ANALYSIS</a:t>
            </a:r>
            <a:endParaRPr lang="en-US" sz="1100" dirty="0"/>
          </a:p>
        </p:txBody>
      </p:sp>
      <p:sp>
        <p:nvSpPr>
          <p:cNvPr id="9" name="Shape 6"/>
          <p:cNvSpPr/>
          <p:nvPr/>
        </p:nvSpPr>
        <p:spPr>
          <a:xfrm>
            <a:off x="640080" y="1828800"/>
            <a:ext cx="1554480" cy="1097280"/>
          </a:xfrm>
          <a:prstGeom prst="roundRect">
            <a:avLst>
              <a:gd name="adj" fmla="val 6667"/>
            </a:avLst>
          </a:prstGeom>
          <a:solidFill>
            <a:srgbClr val="060C18"/>
          </a:solidFill>
          <a:ln w="12700">
            <a:solidFill>
              <a:srgbClr val="22C55E"/>
            </a:solidFill>
            <a:prstDash val="solid"/>
          </a:ln>
        </p:spPr>
      </p:sp>
      <p:sp>
        <p:nvSpPr>
          <p:cNvPr id="10" name="Text 7"/>
          <p:cNvSpPr txBox="1"/>
          <p:nvPr/>
        </p:nvSpPr>
        <p:spPr>
          <a:xfrm>
            <a:off x="731520" y="1892808"/>
            <a:ext cx="1371600" cy="228600"/>
          </a:xfrm>
          <a:prstGeom prst="rect">
            <a:avLst/>
          </a:prstGeom>
          <a:noFill/>
          <a:ln/>
        </p:spPr>
        <p:txBody>
          <a:bodyPr wrap="square" lIns="0" tIns="0" rIns="0" bIns="0" rtlCol="0" anchor="t"/>
          <a:lstStyle/>
          <a:p>
            <a:pPr indent="0" marL="0">
              <a:buNone/>
            </a:pPr>
            <a:r>
              <a:rPr lang="en-US" sz="1100" b="1" dirty="0">
                <a:solidFill>
                  <a:srgbClr val="22C55E"/>
                </a:solidFill>
                <a:latin typeface="Segoe UI" pitchFamily="34" charset="0"/>
                <a:ea typeface="Segoe UI" pitchFamily="34" charset="-122"/>
                <a:cs typeface="Segoe UI" pitchFamily="34" charset="-120"/>
              </a:rPr>
              <a:t>Positive</a:t>
            </a:r>
            <a:endParaRPr lang="en-US" sz="1100" dirty="0"/>
          </a:p>
        </p:txBody>
      </p:sp>
      <p:sp>
        <p:nvSpPr>
          <p:cNvPr id="11" name="Text 8"/>
          <p:cNvSpPr txBox="1"/>
          <p:nvPr/>
        </p:nvSpPr>
        <p:spPr>
          <a:xfrm>
            <a:off x="731520" y="2148840"/>
            <a:ext cx="1371600" cy="365760"/>
          </a:xfrm>
          <a:prstGeom prst="rect">
            <a:avLst/>
          </a:prstGeom>
          <a:noFill/>
          <a:ln/>
        </p:spPr>
        <p:txBody>
          <a:bodyPr wrap="square" lIns="0" tIns="0" rIns="0" bIns="0" rtlCol="0" anchor="t"/>
          <a:lstStyle/>
          <a:p>
            <a:pPr indent="0" marL="0">
              <a:buNone/>
            </a:pPr>
            <a:r>
              <a:rPr lang="en-US" sz="2000" b="1" dirty="0">
                <a:solidFill>
                  <a:srgbClr val="E9F2FF"/>
                </a:solidFill>
                <a:latin typeface="Segoe UI" pitchFamily="34" charset="0"/>
                <a:ea typeface="Segoe UI" pitchFamily="34" charset="-122"/>
                <a:cs typeface="Segoe UI" pitchFamily="34" charset="-120"/>
              </a:rPr>
              <a:t>8,026</a:t>
            </a:r>
            <a:endParaRPr lang="en-US" sz="2000" dirty="0"/>
          </a:p>
        </p:txBody>
      </p:sp>
      <p:sp>
        <p:nvSpPr>
          <p:cNvPr id="12" name="Text 9"/>
          <p:cNvSpPr txBox="1"/>
          <p:nvPr/>
        </p:nvSpPr>
        <p:spPr>
          <a:xfrm>
            <a:off x="731520" y="2578608"/>
            <a:ext cx="1371600" cy="22860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avg rating 4.49</a:t>
            </a:r>
            <a:endParaRPr lang="en-US" sz="1000" dirty="0"/>
          </a:p>
        </p:txBody>
      </p:sp>
      <p:sp>
        <p:nvSpPr>
          <p:cNvPr id="13" name="Shape 10"/>
          <p:cNvSpPr/>
          <p:nvPr/>
        </p:nvSpPr>
        <p:spPr>
          <a:xfrm>
            <a:off x="2331720" y="1828800"/>
            <a:ext cx="1554480" cy="1097280"/>
          </a:xfrm>
          <a:prstGeom prst="roundRect">
            <a:avLst>
              <a:gd name="adj" fmla="val 6667"/>
            </a:avLst>
          </a:prstGeom>
          <a:solidFill>
            <a:srgbClr val="060C18"/>
          </a:solidFill>
          <a:ln w="12700">
            <a:solidFill>
              <a:srgbClr val="F59E0B"/>
            </a:solidFill>
            <a:prstDash val="solid"/>
          </a:ln>
        </p:spPr>
      </p:sp>
      <p:sp>
        <p:nvSpPr>
          <p:cNvPr id="14" name="Text 11"/>
          <p:cNvSpPr txBox="1"/>
          <p:nvPr/>
        </p:nvSpPr>
        <p:spPr>
          <a:xfrm>
            <a:off x="2423160" y="1892808"/>
            <a:ext cx="1371600" cy="228600"/>
          </a:xfrm>
          <a:prstGeom prst="rect">
            <a:avLst/>
          </a:prstGeom>
          <a:noFill/>
          <a:ln/>
        </p:spPr>
        <p:txBody>
          <a:bodyPr wrap="square" lIns="0" tIns="0" rIns="0" bIns="0" rtlCol="0" anchor="t"/>
          <a:lstStyle/>
          <a:p>
            <a:pPr indent="0" marL="0">
              <a:buNone/>
            </a:pPr>
            <a:r>
              <a:rPr lang="en-US" sz="1100" b="1" dirty="0">
                <a:solidFill>
                  <a:srgbClr val="F59E0B"/>
                </a:solidFill>
                <a:latin typeface="Segoe UI" pitchFamily="34" charset="0"/>
                <a:ea typeface="Segoe UI" pitchFamily="34" charset="-122"/>
                <a:cs typeface="Segoe UI" pitchFamily="34" charset="-120"/>
              </a:rPr>
              <a:t>Neutral</a:t>
            </a:r>
            <a:endParaRPr lang="en-US" sz="1100" dirty="0"/>
          </a:p>
        </p:txBody>
      </p:sp>
      <p:sp>
        <p:nvSpPr>
          <p:cNvPr id="15" name="Text 12"/>
          <p:cNvSpPr txBox="1"/>
          <p:nvPr/>
        </p:nvSpPr>
        <p:spPr>
          <a:xfrm>
            <a:off x="2423160" y="2148840"/>
            <a:ext cx="1371600" cy="365760"/>
          </a:xfrm>
          <a:prstGeom prst="rect">
            <a:avLst/>
          </a:prstGeom>
          <a:noFill/>
          <a:ln/>
        </p:spPr>
        <p:txBody>
          <a:bodyPr wrap="square" lIns="0" tIns="0" rIns="0" bIns="0" rtlCol="0" anchor="t"/>
          <a:lstStyle/>
          <a:p>
            <a:pPr indent="0" marL="0">
              <a:buNone/>
            </a:pPr>
            <a:r>
              <a:rPr lang="en-US" sz="2000" b="1" dirty="0">
                <a:solidFill>
                  <a:srgbClr val="E9F2FF"/>
                </a:solidFill>
                <a:latin typeface="Segoe UI" pitchFamily="34" charset="0"/>
                <a:ea typeface="Segoe UI" pitchFamily="34" charset="-122"/>
                <a:cs typeface="Segoe UI" pitchFamily="34" charset="-120"/>
              </a:rPr>
              <a:t>2,854</a:t>
            </a:r>
            <a:endParaRPr lang="en-US" sz="2000" dirty="0"/>
          </a:p>
        </p:txBody>
      </p:sp>
      <p:sp>
        <p:nvSpPr>
          <p:cNvPr id="16" name="Text 13"/>
          <p:cNvSpPr txBox="1"/>
          <p:nvPr/>
        </p:nvSpPr>
        <p:spPr>
          <a:xfrm>
            <a:off x="2423160" y="2578608"/>
            <a:ext cx="1371600" cy="22860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avg rating 3.56</a:t>
            </a:r>
            <a:endParaRPr lang="en-US" sz="1000" dirty="0"/>
          </a:p>
        </p:txBody>
      </p:sp>
      <p:sp>
        <p:nvSpPr>
          <p:cNvPr id="17" name="Shape 14"/>
          <p:cNvSpPr/>
          <p:nvPr/>
        </p:nvSpPr>
        <p:spPr>
          <a:xfrm>
            <a:off x="4023360" y="1828800"/>
            <a:ext cx="1554480" cy="1097280"/>
          </a:xfrm>
          <a:prstGeom prst="roundRect">
            <a:avLst>
              <a:gd name="adj" fmla="val 6667"/>
            </a:avLst>
          </a:prstGeom>
          <a:solidFill>
            <a:srgbClr val="060C18"/>
          </a:solidFill>
          <a:ln w="12700">
            <a:solidFill>
              <a:srgbClr val="EF4444"/>
            </a:solidFill>
            <a:prstDash val="solid"/>
          </a:ln>
        </p:spPr>
      </p:sp>
      <p:sp>
        <p:nvSpPr>
          <p:cNvPr id="18" name="Text 15"/>
          <p:cNvSpPr txBox="1"/>
          <p:nvPr/>
        </p:nvSpPr>
        <p:spPr>
          <a:xfrm>
            <a:off x="4114800" y="1892808"/>
            <a:ext cx="1371600" cy="228600"/>
          </a:xfrm>
          <a:prstGeom prst="rect">
            <a:avLst/>
          </a:prstGeom>
          <a:noFill/>
          <a:ln/>
        </p:spPr>
        <p:txBody>
          <a:bodyPr wrap="square" lIns="0" tIns="0" rIns="0" bIns="0" rtlCol="0" anchor="t"/>
          <a:lstStyle/>
          <a:p>
            <a:pPr indent="0" marL="0">
              <a:buNone/>
            </a:pPr>
            <a:r>
              <a:rPr lang="en-US" sz="1100" b="1" dirty="0">
                <a:solidFill>
                  <a:srgbClr val="EF4444"/>
                </a:solidFill>
                <a:latin typeface="Segoe UI" pitchFamily="34" charset="0"/>
                <a:ea typeface="Segoe UI" pitchFamily="34" charset="-122"/>
                <a:cs typeface="Segoe UI" pitchFamily="34" charset="-120"/>
              </a:rPr>
              <a:t>Negative</a:t>
            </a:r>
            <a:endParaRPr lang="en-US" sz="1100" dirty="0"/>
          </a:p>
        </p:txBody>
      </p:sp>
      <p:sp>
        <p:nvSpPr>
          <p:cNvPr id="19" name="Text 16"/>
          <p:cNvSpPr txBox="1"/>
          <p:nvPr/>
        </p:nvSpPr>
        <p:spPr>
          <a:xfrm>
            <a:off x="4114800" y="2148840"/>
            <a:ext cx="1371600" cy="365760"/>
          </a:xfrm>
          <a:prstGeom prst="rect">
            <a:avLst/>
          </a:prstGeom>
          <a:noFill/>
          <a:ln/>
        </p:spPr>
        <p:txBody>
          <a:bodyPr wrap="square" lIns="0" tIns="0" rIns="0" bIns="0" rtlCol="0" anchor="t"/>
          <a:lstStyle/>
          <a:p>
            <a:pPr indent="0" marL="0">
              <a:buNone/>
            </a:pPr>
            <a:r>
              <a:rPr lang="en-US" sz="2000" b="1" dirty="0">
                <a:solidFill>
                  <a:srgbClr val="E9F2FF"/>
                </a:solidFill>
                <a:latin typeface="Segoe UI" pitchFamily="34" charset="0"/>
                <a:ea typeface="Segoe UI" pitchFamily="34" charset="-122"/>
                <a:cs typeface="Segoe UI" pitchFamily="34" charset="-120"/>
              </a:rPr>
              <a:t>1,120</a:t>
            </a:r>
            <a:endParaRPr lang="en-US" sz="2000" dirty="0"/>
          </a:p>
        </p:txBody>
      </p:sp>
      <p:sp>
        <p:nvSpPr>
          <p:cNvPr id="20" name="Text 17"/>
          <p:cNvSpPr txBox="1"/>
          <p:nvPr/>
        </p:nvSpPr>
        <p:spPr>
          <a:xfrm>
            <a:off x="4114800" y="2578608"/>
            <a:ext cx="1371600" cy="22860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avg rating 2.35</a:t>
            </a:r>
            <a:endParaRPr lang="en-US" sz="1000" dirty="0"/>
          </a:p>
        </p:txBody>
      </p:sp>
      <p:graphicFrame>
        <p:nvGraphicFramePr>
          <p:cNvPr id="21" name="Chart 0" descr=""/>
          <p:cNvGraphicFramePr/>
          <p:nvPr/>
        </p:nvGraphicFramePr>
        <p:xfrm>
          <a:off x="640080" y="3063240"/>
          <a:ext cx="5029200" cy="2148840"/>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txBox="1"/>
          <p:nvPr/>
        </p:nvSpPr>
        <p:spPr>
          <a:xfrm>
            <a:off x="640080" y="5303520"/>
            <a:ext cx="5029200" cy="822960"/>
          </a:xfrm>
          <a:prstGeom prst="rect">
            <a:avLst/>
          </a:prstGeom>
          <a:noFill/>
          <a:ln/>
        </p:spPr>
        <p:txBody>
          <a:bodyPr wrap="square" lIns="0" tIns="0" rIns="0" bIns="0" rtlCol="0" anchor="t"/>
          <a:lstStyle/>
          <a:p>
            <a:pPr indent="0" marL="0">
              <a:buNone/>
            </a:pPr>
            <a:r>
              <a:rPr lang="en-US" sz="1100" dirty="0">
                <a:solidFill>
                  <a:srgbClr val="8FA4C6"/>
                </a:solidFill>
                <a:latin typeface="Segoe UI" pitchFamily="34" charset="0"/>
                <a:ea typeface="Segoe UI" pitchFamily="34" charset="-122"/>
                <a:cs typeface="Segoe UI" pitchFamily="34" charset="-120"/>
              </a:rPr>
              <a:t>Negative feedback: 0.03% (Low) • 0.58% (Medium) • 39.32% (High congestion). Lowest-rated station: DEL-ST-03 (3.91).</a:t>
            </a:r>
            <a:endParaRPr lang="en-US" sz="1100" dirty="0"/>
          </a:p>
        </p:txBody>
      </p:sp>
      <p:graphicFrame>
        <p:nvGraphicFramePr>
          <p:cNvPr id="23" name="Chart 1" descr=""/>
          <p:cNvGraphicFramePr/>
          <p:nvPr/>
        </p:nvGraphicFramePr>
        <p:xfrm>
          <a:off x="6035040" y="1325880"/>
          <a:ext cx="5715000" cy="2331720"/>
        </p:xfrm>
        <a:graphic xmlns:a="http://schemas.openxmlformats.org/drawingml/2006/main">
          <a:graphicData uri="http://schemas.openxmlformats.org/drawingml/2006/chart">
            <c:chart xmlns:c="http://schemas.openxmlformats.org/drawingml/2006/chart" r:id="rId2"/>
          </a:graphicData>
        </a:graphic>
      </p:graphicFrame>
      <p:graphicFrame>
        <p:nvGraphicFramePr>
          <p:cNvPr id="24" name="Chart 2" descr=""/>
          <p:cNvGraphicFramePr/>
          <p:nvPr/>
        </p:nvGraphicFramePr>
        <p:xfrm>
          <a:off x="6035040" y="3703320"/>
          <a:ext cx="5715000" cy="2331720"/>
        </p:xfrm>
        <a:graphic xmlns:a="http://schemas.openxmlformats.org/drawingml/2006/main">
          <a:graphicData uri="http://schemas.openxmlformats.org/drawingml/2006/chart">
            <c:chart xmlns:c="http://schemas.openxmlformats.org/drawingml/2006/chart" r:id="rId3"/>
          </a:graphicData>
        </a:graphic>
      </p:graphicFrame>
      <p:sp>
        <p:nvSpPr>
          <p:cNvPr id="25" name="Text 19"/>
          <p:cNvSpPr txBox="1"/>
          <p:nvPr/>
        </p:nvSpPr>
        <p:spPr>
          <a:xfrm>
            <a:off x="6035040" y="6080760"/>
            <a:ext cx="5669280" cy="274320"/>
          </a:xfrm>
          <a:prstGeom prst="rect">
            <a:avLst/>
          </a:prstGeom>
          <a:noFill/>
          <a:ln/>
        </p:spPr>
        <p:txBody>
          <a:bodyPr wrap="square" lIns="0" tIns="0" rIns="0" bIns="0" rtlCol="0" anchor="t"/>
          <a:lstStyle/>
          <a:p>
            <a:pPr indent="0" marL="0">
              <a:buNone/>
            </a:pPr>
            <a:r>
              <a:rPr lang="en-US" sz="1000" dirty="0">
                <a:solidFill>
                  <a:srgbClr val="8FA4C6"/>
                </a:solidFill>
                <a:latin typeface="Segoe UI" pitchFamily="34" charset="0"/>
                <a:ea typeface="Segoe UI" pitchFamily="34" charset="-122"/>
                <a:cs typeface="Segoe UI" pitchFamily="34" charset="-120"/>
              </a:rPr>
              <a:t>Importance reflects model reliance only — it does not prove causation.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Power BI Dashboard</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Interactive EVCharge Intelligence Dashboard</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9 / 11</a:t>
            </a:r>
            <a:endParaRPr lang="en-US" sz="1000" dirty="0"/>
          </a:p>
        </p:txBody>
      </p:sp>
      <p:sp>
        <p:nvSpPr>
          <p:cNvPr id="7" name="Shape 4"/>
          <p:cNvSpPr/>
          <p:nvPr/>
        </p:nvSpPr>
        <p:spPr>
          <a:xfrm>
            <a:off x="457200" y="1280160"/>
            <a:ext cx="3246120" cy="5074920"/>
          </a:xfrm>
          <a:prstGeom prst="roundRect">
            <a:avLst>
              <a:gd name="adj" fmla="val 1690"/>
            </a:avLst>
          </a:prstGeom>
          <a:solidFill>
            <a:srgbClr val="0D1A2E"/>
          </a:solidFill>
          <a:ln w="19050">
            <a:solidFill>
              <a:srgbClr val="2DD4BF"/>
            </a:solidFill>
            <a:prstDash val="solid"/>
          </a:ln>
        </p:spPr>
      </p:sp>
      <p:pic>
        <p:nvPicPr>
          <p:cNvPr id="8" name="Image 0" descr="/tmp/dash_full.png">    </p:cNvPr>
          <p:cNvPicPr>
            <a:picLocks noChangeAspect="1"/>
          </p:cNvPicPr>
          <p:nvPr/>
        </p:nvPicPr>
        <p:blipFill>
          <a:blip r:embed="rId1"/>
          <a:stretch>
            <a:fillRect/>
          </a:stretch>
        </p:blipFill>
        <p:spPr>
          <a:xfrm>
            <a:off x="662871" y="1353312"/>
            <a:ext cx="2843922" cy="4937760"/>
          </a:xfrm>
          <a:prstGeom prst="rect">
            <a:avLst/>
          </a:prstGeom>
        </p:spPr>
      </p:pic>
      <p:sp>
        <p:nvSpPr>
          <p:cNvPr id="9" name="Shape 5"/>
          <p:cNvSpPr/>
          <p:nvPr/>
        </p:nvSpPr>
        <p:spPr>
          <a:xfrm>
            <a:off x="3886200" y="1280160"/>
            <a:ext cx="7863840" cy="4160520"/>
          </a:xfrm>
          <a:prstGeom prst="roundRect">
            <a:avLst>
              <a:gd name="adj" fmla="val 2198"/>
            </a:avLst>
          </a:prstGeom>
          <a:solidFill>
            <a:srgbClr val="0D1A2E"/>
          </a:solidFill>
          <a:ln w="12700">
            <a:solidFill>
              <a:srgbClr val="2DD4BF"/>
            </a:solidFill>
            <a:prstDash val="solid"/>
          </a:ln>
        </p:spPr>
      </p:sp>
      <p:pic>
        <p:nvPicPr>
          <p:cNvPr id="10" name="Image 1" descr="/tmp/top.png">    </p:cNvPr>
          <p:cNvPicPr>
            <a:picLocks noChangeAspect="1"/>
          </p:cNvPicPr>
          <p:nvPr/>
        </p:nvPicPr>
        <p:blipFill>
          <a:blip r:embed="rId2"/>
          <a:stretch>
            <a:fillRect/>
          </a:stretch>
        </p:blipFill>
        <p:spPr>
          <a:xfrm>
            <a:off x="3977640" y="1416177"/>
            <a:ext cx="7680960" cy="3888486"/>
          </a:xfrm>
          <a:prstGeom prst="rect">
            <a:avLst/>
          </a:prstGeom>
        </p:spPr>
      </p:pic>
      <p:sp>
        <p:nvSpPr>
          <p:cNvPr id="11" name="Text 6"/>
          <p:cNvSpPr txBox="1"/>
          <p:nvPr/>
        </p:nvSpPr>
        <p:spPr>
          <a:xfrm>
            <a:off x="3886200" y="5486400"/>
            <a:ext cx="7863840" cy="274320"/>
          </a:xfrm>
          <a:prstGeom prst="rect">
            <a:avLst/>
          </a:prstGeom>
          <a:noFill/>
          <a:ln/>
        </p:spPr>
        <p:txBody>
          <a:bodyPr wrap="square" lIns="0" tIns="0" rIns="0" bIns="0" rtlCol="0" anchor="t"/>
          <a:lstStyle/>
          <a:p>
            <a:pPr indent="0" marL="0">
              <a:buNone/>
            </a:pPr>
            <a:r>
              <a:rPr lang="en-US" sz="1100" i="1" dirty="0">
                <a:solidFill>
                  <a:srgbClr val="8FA4C6"/>
                </a:solidFill>
                <a:latin typeface="Segoe UI" pitchFamily="34" charset="0"/>
                <a:ea typeface="Segoe UI" pitchFamily="34" charset="-122"/>
                <a:cs typeface="Segoe UI" pitchFamily="34" charset="-120"/>
              </a:rPr>
              <a:t>Interactive EVCharge Intelligence Dashboard — full page (left) and filters + KPI cards (right)</a:t>
            </a:r>
            <a:endParaRPr lang="en-US" sz="1100" dirty="0"/>
          </a:p>
        </p:txBody>
      </p:sp>
      <p:sp>
        <p:nvSpPr>
          <p:cNvPr id="12" name="Shape 7"/>
          <p:cNvSpPr/>
          <p:nvPr/>
        </p:nvSpPr>
        <p:spPr>
          <a:xfrm>
            <a:off x="3886200" y="5852160"/>
            <a:ext cx="1243584" cy="457200"/>
          </a:xfrm>
          <a:prstGeom prst="roundRect">
            <a:avLst>
              <a:gd name="adj" fmla="val 16000"/>
            </a:avLst>
          </a:prstGeom>
          <a:solidFill>
            <a:srgbClr val="0D1A2E"/>
          </a:solidFill>
          <a:ln w="12700">
            <a:solidFill>
              <a:srgbClr val="1C2F50"/>
            </a:solidFill>
            <a:prstDash val="solid"/>
          </a:ln>
        </p:spPr>
      </p:sp>
      <p:sp>
        <p:nvSpPr>
          <p:cNvPr id="13" name="Text 8"/>
          <p:cNvSpPr txBox="1"/>
          <p:nvPr/>
        </p:nvSpPr>
        <p:spPr>
          <a:xfrm>
            <a:off x="391363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KPI cards</a:t>
            </a:r>
            <a:endParaRPr lang="en-US" sz="1000" dirty="0"/>
          </a:p>
        </p:txBody>
      </p:sp>
      <p:sp>
        <p:nvSpPr>
          <p:cNvPr id="14" name="Shape 9"/>
          <p:cNvSpPr/>
          <p:nvPr/>
        </p:nvSpPr>
        <p:spPr>
          <a:xfrm>
            <a:off x="5212080" y="5852160"/>
            <a:ext cx="1243584" cy="457200"/>
          </a:xfrm>
          <a:prstGeom prst="roundRect">
            <a:avLst>
              <a:gd name="adj" fmla="val 16000"/>
            </a:avLst>
          </a:prstGeom>
          <a:solidFill>
            <a:srgbClr val="0D1A2E"/>
          </a:solidFill>
          <a:ln w="12700">
            <a:solidFill>
              <a:srgbClr val="1C2F50"/>
            </a:solidFill>
            <a:prstDash val="solid"/>
          </a:ln>
        </p:spPr>
      </p:sp>
      <p:sp>
        <p:nvSpPr>
          <p:cNvPr id="15" name="Text 10"/>
          <p:cNvSpPr txBox="1"/>
          <p:nvPr/>
        </p:nvSpPr>
        <p:spPr>
          <a:xfrm>
            <a:off x="523951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Demand analysis</a:t>
            </a:r>
            <a:endParaRPr lang="en-US" sz="1000" dirty="0"/>
          </a:p>
        </p:txBody>
      </p:sp>
      <p:sp>
        <p:nvSpPr>
          <p:cNvPr id="16" name="Shape 11"/>
          <p:cNvSpPr/>
          <p:nvPr/>
        </p:nvSpPr>
        <p:spPr>
          <a:xfrm>
            <a:off x="6537960" y="5852160"/>
            <a:ext cx="1243584" cy="457200"/>
          </a:xfrm>
          <a:prstGeom prst="roundRect">
            <a:avLst>
              <a:gd name="adj" fmla="val 16000"/>
            </a:avLst>
          </a:prstGeom>
          <a:solidFill>
            <a:srgbClr val="0D1A2E"/>
          </a:solidFill>
          <a:ln w="12700">
            <a:solidFill>
              <a:srgbClr val="1C2F50"/>
            </a:solidFill>
            <a:prstDash val="solid"/>
          </a:ln>
        </p:spPr>
      </p:sp>
      <p:sp>
        <p:nvSpPr>
          <p:cNvPr id="17" name="Text 12"/>
          <p:cNvSpPr txBox="1"/>
          <p:nvPr/>
        </p:nvSpPr>
        <p:spPr>
          <a:xfrm>
            <a:off x="656539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Congestion analysis</a:t>
            </a:r>
            <a:endParaRPr lang="en-US" sz="1000" dirty="0"/>
          </a:p>
        </p:txBody>
      </p:sp>
      <p:sp>
        <p:nvSpPr>
          <p:cNvPr id="18" name="Shape 13"/>
          <p:cNvSpPr/>
          <p:nvPr/>
        </p:nvSpPr>
        <p:spPr>
          <a:xfrm>
            <a:off x="7863840" y="5852160"/>
            <a:ext cx="1243584" cy="457200"/>
          </a:xfrm>
          <a:prstGeom prst="roundRect">
            <a:avLst>
              <a:gd name="adj" fmla="val 16000"/>
            </a:avLst>
          </a:prstGeom>
          <a:solidFill>
            <a:srgbClr val="0D1A2E"/>
          </a:solidFill>
          <a:ln w="12700">
            <a:solidFill>
              <a:srgbClr val="1C2F50"/>
            </a:solidFill>
            <a:prstDash val="solid"/>
          </a:ln>
        </p:spPr>
      </p:sp>
      <p:sp>
        <p:nvSpPr>
          <p:cNvPr id="19" name="Text 14"/>
          <p:cNvSpPr txBox="1"/>
          <p:nvPr/>
        </p:nvSpPr>
        <p:spPr>
          <a:xfrm>
            <a:off x="789127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Customer feedback</a:t>
            </a:r>
            <a:endParaRPr lang="en-US" sz="1000" dirty="0"/>
          </a:p>
        </p:txBody>
      </p:sp>
      <p:sp>
        <p:nvSpPr>
          <p:cNvPr id="20" name="Shape 15"/>
          <p:cNvSpPr/>
          <p:nvPr/>
        </p:nvSpPr>
        <p:spPr>
          <a:xfrm>
            <a:off x="9189720" y="5852160"/>
            <a:ext cx="1243584" cy="457200"/>
          </a:xfrm>
          <a:prstGeom prst="roundRect">
            <a:avLst>
              <a:gd name="adj" fmla="val 16000"/>
            </a:avLst>
          </a:prstGeom>
          <a:solidFill>
            <a:srgbClr val="0D1A2E"/>
          </a:solidFill>
          <a:ln w="12700">
            <a:solidFill>
              <a:srgbClr val="1C2F50"/>
            </a:solidFill>
            <a:prstDash val="solid"/>
          </a:ln>
        </p:spPr>
      </p:sp>
      <p:sp>
        <p:nvSpPr>
          <p:cNvPr id="21" name="Text 16"/>
          <p:cNvSpPr txBox="1"/>
          <p:nvPr/>
        </p:nvSpPr>
        <p:spPr>
          <a:xfrm>
            <a:off x="921715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Station comparison</a:t>
            </a:r>
            <a:endParaRPr lang="en-US" sz="1000" dirty="0"/>
          </a:p>
        </p:txBody>
      </p:sp>
      <p:sp>
        <p:nvSpPr>
          <p:cNvPr id="22" name="Shape 17"/>
          <p:cNvSpPr/>
          <p:nvPr/>
        </p:nvSpPr>
        <p:spPr>
          <a:xfrm>
            <a:off x="10515600" y="5852160"/>
            <a:ext cx="1243584" cy="457200"/>
          </a:xfrm>
          <a:prstGeom prst="roundRect">
            <a:avLst>
              <a:gd name="adj" fmla="val 16000"/>
            </a:avLst>
          </a:prstGeom>
          <a:solidFill>
            <a:srgbClr val="0D1A2E"/>
          </a:solidFill>
          <a:ln w="12700">
            <a:solidFill>
              <a:srgbClr val="1C2F50"/>
            </a:solidFill>
            <a:prstDash val="solid"/>
          </a:ln>
        </p:spPr>
      </p:sp>
      <p:sp>
        <p:nvSpPr>
          <p:cNvPr id="23" name="Text 18"/>
          <p:cNvSpPr txBox="1"/>
          <p:nvPr/>
        </p:nvSpPr>
        <p:spPr>
          <a:xfrm>
            <a:off x="10543032" y="5852160"/>
            <a:ext cx="11887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Segoe UI" pitchFamily="34" charset="0"/>
                <a:ea typeface="Segoe UI" pitchFamily="34" charset="-122"/>
                <a:cs typeface="Segoe UI" pitchFamily="34" charset="-120"/>
              </a:rPr>
              <a:t>Filters / slicers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Key Insights &amp; Business Value</a:t>
            </a:r>
            <a:endParaRPr lang="en-US" sz="2800" dirty="0"/>
          </a:p>
        </p:txBody>
      </p:sp>
      <p:sp>
        <p:nvSpPr>
          <p:cNvPr id="4" name="Text 2"/>
          <p:cNvSpPr txBox="1"/>
          <p:nvPr/>
        </p:nvSpPr>
        <p:spPr>
          <a:xfrm>
            <a:off x="457200" y="822960"/>
            <a:ext cx="10058400" cy="320040"/>
          </a:xfrm>
          <a:prstGeom prst="rect">
            <a:avLst/>
          </a:prstGeom>
          <a:noFill/>
          <a:ln/>
        </p:spPr>
        <p:txBody>
          <a:bodyPr wrap="square" lIns="0" tIns="0" rIns="0" bIns="0" rtlCol="0" anchor="ctr"/>
          <a:lstStyle/>
          <a:p>
            <a:pPr indent="0" marL="0">
              <a:buNone/>
            </a:pPr>
            <a:r>
              <a:rPr lang="en-US" sz="1300" dirty="0">
                <a:solidFill>
                  <a:srgbClr val="8FA4C6"/>
                </a:solidFill>
                <a:latin typeface="Segoe UI" pitchFamily="34" charset="0"/>
                <a:ea typeface="Segoe UI" pitchFamily="34" charset="-122"/>
                <a:cs typeface="Segoe UI" pitchFamily="34" charset="-120"/>
              </a:rPr>
              <a:t>Observation → Business value, from the dashboard data</a:t>
            </a:r>
            <a:endParaRPr lang="en-US" sz="1300" dirty="0"/>
          </a:p>
        </p:txBody>
      </p:sp>
      <p:sp>
        <p:nvSpPr>
          <p:cNvPr id="5" name="Text 3"/>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10 / 11</a:t>
            </a:r>
            <a:endParaRPr lang="en-US" sz="1000" dirty="0"/>
          </a:p>
        </p:txBody>
      </p:sp>
      <p:sp>
        <p:nvSpPr>
          <p:cNvPr id="7" name="Shape 4"/>
          <p:cNvSpPr/>
          <p:nvPr/>
        </p:nvSpPr>
        <p:spPr>
          <a:xfrm>
            <a:off x="457200" y="1325880"/>
            <a:ext cx="6126480" cy="896112"/>
          </a:xfrm>
          <a:prstGeom prst="roundRect">
            <a:avLst>
              <a:gd name="adj" fmla="val 10204"/>
            </a:avLst>
          </a:prstGeom>
          <a:solidFill>
            <a:srgbClr val="0D1A2E"/>
          </a:solidFill>
          <a:ln w="12700">
            <a:solidFill>
              <a:srgbClr val="2DD4BF"/>
            </a:solidFill>
            <a:prstDash val="solid"/>
          </a:ln>
        </p:spPr>
      </p:sp>
      <p:sp>
        <p:nvSpPr>
          <p:cNvPr id="8" name="Text 5"/>
          <p:cNvSpPr txBox="1"/>
          <p:nvPr/>
        </p:nvSpPr>
        <p:spPr>
          <a:xfrm>
            <a:off x="640080" y="1399032"/>
            <a:ext cx="3566160" cy="77724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High-traffic demand averages 24.16 kWh vs 18.83 kWh at low traffic</a:t>
            </a:r>
            <a:endParaRPr lang="en-US" sz="1100" dirty="0"/>
          </a:p>
        </p:txBody>
      </p:sp>
      <p:sp>
        <p:nvSpPr>
          <p:cNvPr id="9" name="Text 6"/>
          <p:cNvSpPr txBox="1"/>
          <p:nvPr/>
        </p:nvSpPr>
        <p:spPr>
          <a:xfrm>
            <a:off x="4206240" y="1554480"/>
            <a:ext cx="365760" cy="411480"/>
          </a:xfrm>
          <a:prstGeom prst="rect">
            <a:avLst/>
          </a:prstGeom>
          <a:noFill/>
          <a:ln/>
        </p:spPr>
        <p:txBody>
          <a:bodyPr wrap="square" lIns="0" tIns="0" rIns="0" bIns="0" rtlCol="0" anchor="ctr"/>
          <a:lstStyle/>
          <a:p>
            <a:pPr algn="ctr" indent="0" marL="0">
              <a:buNone/>
            </a:pPr>
            <a:r>
              <a:rPr lang="en-US" sz="1800" dirty="0">
                <a:solidFill>
                  <a:srgbClr val="2DD4BF"/>
                </a:solidFill>
                <a:latin typeface="Segoe UI" pitchFamily="34" charset="0"/>
                <a:ea typeface="Segoe UI" pitchFamily="34" charset="-122"/>
                <a:cs typeface="Segoe UI" pitchFamily="34" charset="-120"/>
              </a:rPr>
              <a:t>→</a:t>
            </a:r>
            <a:endParaRPr lang="en-US" sz="1800" dirty="0"/>
          </a:p>
        </p:txBody>
      </p:sp>
      <p:sp>
        <p:nvSpPr>
          <p:cNvPr id="10" name="Text 7"/>
          <p:cNvSpPr txBox="1"/>
          <p:nvPr/>
        </p:nvSpPr>
        <p:spPr>
          <a:xfrm>
            <a:off x="4572000" y="1399032"/>
            <a:ext cx="1920240" cy="777240"/>
          </a:xfrm>
          <a:prstGeom prst="rect">
            <a:avLst/>
          </a:prstGeom>
          <a:noFill/>
          <a:ln/>
        </p:spPr>
        <p:txBody>
          <a:bodyPr wrap="square" lIns="0" tIns="0" rIns="0" bIns="0" rtlCol="0" anchor="ctr"/>
          <a:lstStyle/>
          <a:p>
            <a:pPr indent="0" marL="0">
              <a:buNone/>
            </a:pPr>
            <a:r>
              <a:rPr lang="en-US" sz="1100" b="1" dirty="0">
                <a:solidFill>
                  <a:srgbClr val="2DD4BF"/>
                </a:solidFill>
                <a:latin typeface="Segoe UI" pitchFamily="34" charset="0"/>
                <a:ea typeface="Segoe UI" pitchFamily="34" charset="-122"/>
                <a:cs typeface="Segoe UI" pitchFamily="34" charset="-120"/>
              </a:rPr>
              <a:t>Supports capacity planning</a:t>
            </a:r>
            <a:endParaRPr lang="en-US" sz="1100" dirty="0"/>
          </a:p>
        </p:txBody>
      </p:sp>
      <p:sp>
        <p:nvSpPr>
          <p:cNvPr id="11" name="Shape 8"/>
          <p:cNvSpPr/>
          <p:nvPr/>
        </p:nvSpPr>
        <p:spPr>
          <a:xfrm>
            <a:off x="457200" y="2313432"/>
            <a:ext cx="6126480" cy="896112"/>
          </a:xfrm>
          <a:prstGeom prst="roundRect">
            <a:avLst>
              <a:gd name="adj" fmla="val 10204"/>
            </a:avLst>
          </a:prstGeom>
          <a:solidFill>
            <a:srgbClr val="0D1A2E"/>
          </a:solidFill>
          <a:ln w="12700">
            <a:solidFill>
              <a:srgbClr val="4F8CFF"/>
            </a:solidFill>
            <a:prstDash val="solid"/>
          </a:ln>
        </p:spPr>
      </p:sp>
      <p:sp>
        <p:nvSpPr>
          <p:cNvPr id="12" name="Text 9"/>
          <p:cNvSpPr txBox="1"/>
          <p:nvPr/>
        </p:nvSpPr>
        <p:spPr>
          <a:xfrm>
            <a:off x="640080" y="2386584"/>
            <a:ext cx="3566160" cy="77724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Demand peaks at 17–20h (~27 kWh) and 07–09h (~25 kWh)</a:t>
            </a:r>
            <a:endParaRPr lang="en-US" sz="1100" dirty="0"/>
          </a:p>
        </p:txBody>
      </p:sp>
      <p:sp>
        <p:nvSpPr>
          <p:cNvPr id="13" name="Text 10"/>
          <p:cNvSpPr txBox="1"/>
          <p:nvPr/>
        </p:nvSpPr>
        <p:spPr>
          <a:xfrm>
            <a:off x="4206240" y="2542032"/>
            <a:ext cx="365760" cy="411480"/>
          </a:xfrm>
          <a:prstGeom prst="rect">
            <a:avLst/>
          </a:prstGeom>
          <a:noFill/>
          <a:ln/>
        </p:spPr>
        <p:txBody>
          <a:bodyPr wrap="square" lIns="0" tIns="0" rIns="0" bIns="0" rtlCol="0" anchor="ctr"/>
          <a:lstStyle/>
          <a:p>
            <a:pPr algn="ctr" indent="0" marL="0">
              <a:buNone/>
            </a:pPr>
            <a:r>
              <a:rPr lang="en-US" sz="1800" dirty="0">
                <a:solidFill>
                  <a:srgbClr val="4F8CFF"/>
                </a:solidFill>
                <a:latin typeface="Segoe UI" pitchFamily="34" charset="0"/>
                <a:ea typeface="Segoe UI" pitchFamily="34" charset="-122"/>
                <a:cs typeface="Segoe UI" pitchFamily="34" charset="-120"/>
              </a:rPr>
              <a:t>→</a:t>
            </a:r>
            <a:endParaRPr lang="en-US" sz="1800" dirty="0"/>
          </a:p>
        </p:txBody>
      </p:sp>
      <p:sp>
        <p:nvSpPr>
          <p:cNvPr id="14" name="Text 11"/>
          <p:cNvSpPr txBox="1"/>
          <p:nvPr/>
        </p:nvSpPr>
        <p:spPr>
          <a:xfrm>
            <a:off x="4572000" y="2386584"/>
            <a:ext cx="1920240" cy="777240"/>
          </a:xfrm>
          <a:prstGeom prst="rect">
            <a:avLst/>
          </a:prstGeom>
          <a:noFill/>
          <a:ln/>
        </p:spPr>
        <p:txBody>
          <a:bodyPr wrap="square" lIns="0" tIns="0" rIns="0" bIns="0" rtlCol="0" anchor="ctr"/>
          <a:lstStyle/>
          <a:p>
            <a:pPr indent="0" marL="0">
              <a:buNone/>
            </a:pPr>
            <a:r>
              <a:rPr lang="en-US" sz="1100" b="1" dirty="0">
                <a:solidFill>
                  <a:srgbClr val="4F8CFF"/>
                </a:solidFill>
                <a:latin typeface="Segoe UI" pitchFamily="34" charset="0"/>
                <a:ea typeface="Segoe UI" pitchFamily="34" charset="-122"/>
                <a:cs typeface="Segoe UI" pitchFamily="34" charset="-120"/>
              </a:rPr>
              <a:t>Supports peak-hour load planning</a:t>
            </a:r>
            <a:endParaRPr lang="en-US" sz="1100" dirty="0"/>
          </a:p>
        </p:txBody>
      </p:sp>
      <p:sp>
        <p:nvSpPr>
          <p:cNvPr id="15" name="Shape 12"/>
          <p:cNvSpPr/>
          <p:nvPr/>
        </p:nvSpPr>
        <p:spPr>
          <a:xfrm>
            <a:off x="457200" y="3300984"/>
            <a:ext cx="6126480" cy="896112"/>
          </a:xfrm>
          <a:prstGeom prst="roundRect">
            <a:avLst>
              <a:gd name="adj" fmla="val 10204"/>
            </a:avLst>
          </a:prstGeom>
          <a:solidFill>
            <a:srgbClr val="0D1A2E"/>
          </a:solidFill>
          <a:ln w="12700">
            <a:solidFill>
              <a:srgbClr val="F59E0B"/>
            </a:solidFill>
            <a:prstDash val="solid"/>
          </a:ln>
        </p:spPr>
      </p:sp>
      <p:sp>
        <p:nvSpPr>
          <p:cNvPr id="16" name="Text 13"/>
          <p:cNvSpPr txBox="1"/>
          <p:nvPr/>
        </p:nvSpPr>
        <p:spPr>
          <a:xfrm>
            <a:off x="640080" y="3374136"/>
            <a:ext cx="3566160" cy="77724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Mumbai (518) and Delhi (503) have the most predicted High-congestion records; Chennai the fewest (373)</a:t>
            </a:r>
            <a:endParaRPr lang="en-US" sz="1100" dirty="0"/>
          </a:p>
        </p:txBody>
      </p:sp>
      <p:sp>
        <p:nvSpPr>
          <p:cNvPr id="17" name="Text 14"/>
          <p:cNvSpPr txBox="1"/>
          <p:nvPr/>
        </p:nvSpPr>
        <p:spPr>
          <a:xfrm>
            <a:off x="4206240" y="3529584"/>
            <a:ext cx="365760" cy="411480"/>
          </a:xfrm>
          <a:prstGeom prst="rect">
            <a:avLst/>
          </a:prstGeom>
          <a:noFill/>
          <a:ln/>
        </p:spPr>
        <p:txBody>
          <a:bodyPr wrap="square" lIns="0" tIns="0" rIns="0" bIns="0" rtlCol="0" anchor="ctr"/>
          <a:lstStyle/>
          <a:p>
            <a:pPr algn="ctr" indent="0" marL="0">
              <a:buNone/>
            </a:pPr>
            <a:r>
              <a:rPr lang="en-US" sz="1800" dirty="0">
                <a:solidFill>
                  <a:srgbClr val="F59E0B"/>
                </a:solidFill>
                <a:latin typeface="Segoe UI" pitchFamily="34" charset="0"/>
                <a:ea typeface="Segoe UI" pitchFamily="34" charset="-122"/>
                <a:cs typeface="Segoe UI" pitchFamily="34" charset="-120"/>
              </a:rPr>
              <a:t>→</a:t>
            </a:r>
            <a:endParaRPr lang="en-US" sz="1800" dirty="0"/>
          </a:p>
        </p:txBody>
      </p:sp>
      <p:sp>
        <p:nvSpPr>
          <p:cNvPr id="18" name="Text 15"/>
          <p:cNvSpPr txBox="1"/>
          <p:nvPr/>
        </p:nvSpPr>
        <p:spPr>
          <a:xfrm>
            <a:off x="4572000" y="3374136"/>
            <a:ext cx="1920240" cy="777240"/>
          </a:xfrm>
          <a:prstGeom prst="rect">
            <a:avLst/>
          </a:prstGeom>
          <a:noFill/>
          <a:ln/>
        </p:spPr>
        <p:txBody>
          <a:bodyPr wrap="square" lIns="0" tIns="0" rIns="0" bIns="0"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Supports resource allocation across cities</a:t>
            </a:r>
            <a:endParaRPr lang="en-US" sz="1100" dirty="0"/>
          </a:p>
        </p:txBody>
      </p:sp>
      <p:sp>
        <p:nvSpPr>
          <p:cNvPr id="19" name="Shape 16"/>
          <p:cNvSpPr/>
          <p:nvPr/>
        </p:nvSpPr>
        <p:spPr>
          <a:xfrm>
            <a:off x="457200" y="4288536"/>
            <a:ext cx="6126480" cy="896112"/>
          </a:xfrm>
          <a:prstGeom prst="roundRect">
            <a:avLst>
              <a:gd name="adj" fmla="val 10204"/>
            </a:avLst>
          </a:prstGeom>
          <a:solidFill>
            <a:srgbClr val="0D1A2E"/>
          </a:solidFill>
          <a:ln w="12700">
            <a:solidFill>
              <a:srgbClr val="EF4444"/>
            </a:solidFill>
            <a:prstDash val="solid"/>
          </a:ln>
        </p:spPr>
      </p:sp>
      <p:sp>
        <p:nvSpPr>
          <p:cNvPr id="20" name="Text 17"/>
          <p:cNvSpPr txBox="1"/>
          <p:nvPr/>
        </p:nvSpPr>
        <p:spPr>
          <a:xfrm>
            <a:off x="640080" y="4361688"/>
            <a:ext cx="3566160" cy="77724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Avg rating is 3.10 at High congestion vs 4.58 at Low; negative feedback 39.32% vs 0.03%</a:t>
            </a:r>
            <a:endParaRPr lang="en-US" sz="1100" dirty="0"/>
          </a:p>
        </p:txBody>
      </p:sp>
      <p:sp>
        <p:nvSpPr>
          <p:cNvPr id="21" name="Text 18"/>
          <p:cNvSpPr txBox="1"/>
          <p:nvPr/>
        </p:nvSpPr>
        <p:spPr>
          <a:xfrm>
            <a:off x="4206240" y="4517136"/>
            <a:ext cx="365760" cy="411480"/>
          </a:xfrm>
          <a:prstGeom prst="rect">
            <a:avLst/>
          </a:prstGeom>
          <a:noFill/>
          <a:ln/>
        </p:spPr>
        <p:txBody>
          <a:bodyPr wrap="square" lIns="0" tIns="0" rIns="0" bIns="0" rtlCol="0" anchor="ctr"/>
          <a:lstStyle/>
          <a:p>
            <a:pPr algn="ctr" indent="0" marL="0">
              <a:buNone/>
            </a:pPr>
            <a:r>
              <a:rPr lang="en-US" sz="1800" dirty="0">
                <a:solidFill>
                  <a:srgbClr val="EF4444"/>
                </a:solidFill>
                <a:latin typeface="Segoe UI" pitchFamily="34" charset="0"/>
                <a:ea typeface="Segoe UI" pitchFamily="34" charset="-122"/>
                <a:cs typeface="Segoe UI" pitchFamily="34" charset="-120"/>
              </a:rPr>
              <a:t>→</a:t>
            </a:r>
            <a:endParaRPr lang="en-US" sz="1800" dirty="0"/>
          </a:p>
        </p:txBody>
      </p:sp>
      <p:sp>
        <p:nvSpPr>
          <p:cNvPr id="22" name="Text 19"/>
          <p:cNvSpPr txBox="1"/>
          <p:nvPr/>
        </p:nvSpPr>
        <p:spPr>
          <a:xfrm>
            <a:off x="4572000" y="4361688"/>
            <a:ext cx="1920240" cy="777240"/>
          </a:xfrm>
          <a:prstGeom prst="rect">
            <a:avLst/>
          </a:prstGeom>
          <a:noFill/>
          <a:ln/>
        </p:spPr>
        <p:txBody>
          <a:bodyPr wrap="square" lIns="0" tIns="0" rIns="0" bIns="0" rtlCol="0" anchor="ctr"/>
          <a:lstStyle/>
          <a:p>
            <a:pPr indent="0" marL="0">
              <a:buNone/>
            </a:pPr>
            <a:r>
              <a:rPr lang="en-US" sz="1100" b="1" dirty="0">
                <a:solidFill>
                  <a:srgbClr val="EF4444"/>
                </a:solidFill>
                <a:latin typeface="Segoe UI" pitchFamily="34" charset="0"/>
                <a:ea typeface="Segoe UI" pitchFamily="34" charset="-122"/>
                <a:cs typeface="Segoe UI" pitchFamily="34" charset="-120"/>
              </a:rPr>
              <a:t>Helps flag experience problems tied to congestion</a:t>
            </a:r>
            <a:endParaRPr lang="en-US" sz="1100" dirty="0"/>
          </a:p>
        </p:txBody>
      </p:sp>
      <p:sp>
        <p:nvSpPr>
          <p:cNvPr id="23" name="Shape 20"/>
          <p:cNvSpPr/>
          <p:nvPr/>
        </p:nvSpPr>
        <p:spPr>
          <a:xfrm>
            <a:off x="457200" y="5276088"/>
            <a:ext cx="6126480" cy="896112"/>
          </a:xfrm>
          <a:prstGeom prst="roundRect">
            <a:avLst>
              <a:gd name="adj" fmla="val 10204"/>
            </a:avLst>
          </a:prstGeom>
          <a:solidFill>
            <a:srgbClr val="0D1A2E"/>
          </a:solidFill>
          <a:ln w="12700">
            <a:solidFill>
              <a:srgbClr val="22C55E"/>
            </a:solidFill>
            <a:prstDash val="solid"/>
          </a:ln>
        </p:spPr>
      </p:sp>
      <p:sp>
        <p:nvSpPr>
          <p:cNvPr id="24" name="Text 21"/>
          <p:cNvSpPr txBox="1"/>
          <p:nvPr/>
        </p:nvSpPr>
        <p:spPr>
          <a:xfrm>
            <a:off x="640080" y="5349240"/>
            <a:ext cx="3566160" cy="777240"/>
          </a:xfrm>
          <a:prstGeom prst="rect">
            <a:avLst/>
          </a:prstGeom>
          <a:noFill/>
          <a:ln/>
        </p:spPr>
        <p:txBody>
          <a:bodyPr wrap="square" lIns="0" tIns="0" rIns="0" bIns="0" rtlCol="0" anchor="ctr"/>
          <a:lstStyle/>
          <a:p>
            <a:pPr indent="0" marL="0">
              <a:buNone/>
            </a:pPr>
            <a:r>
              <a:rPr lang="en-US" sz="1100" dirty="0">
                <a:solidFill>
                  <a:srgbClr val="E9F2FF"/>
                </a:solidFill>
                <a:latin typeface="Segoe UI" pitchFamily="34" charset="0"/>
                <a:ea typeface="Segoe UI" pitchFamily="34" charset="-122"/>
                <a:cs typeface="Segoe UI" pitchFamily="34" charset="-120"/>
              </a:rPr>
              <a:t>Avg demand by station ranges from 17.67 kWh (CHE-ST-02) to 24.75 kWh (DEL-ST-03)</a:t>
            </a:r>
            <a:endParaRPr lang="en-US" sz="1100" dirty="0"/>
          </a:p>
        </p:txBody>
      </p:sp>
      <p:sp>
        <p:nvSpPr>
          <p:cNvPr id="25" name="Text 22"/>
          <p:cNvSpPr txBox="1"/>
          <p:nvPr/>
        </p:nvSpPr>
        <p:spPr>
          <a:xfrm>
            <a:off x="4206240" y="5504688"/>
            <a:ext cx="365760" cy="411480"/>
          </a:xfrm>
          <a:prstGeom prst="rect">
            <a:avLst/>
          </a:prstGeom>
          <a:noFill/>
          <a:ln/>
        </p:spPr>
        <p:txBody>
          <a:bodyPr wrap="square" lIns="0" tIns="0" rIns="0" bIns="0" rtlCol="0" anchor="ctr"/>
          <a:lstStyle/>
          <a:p>
            <a:pPr algn="ctr" indent="0" marL="0">
              <a:buNone/>
            </a:pPr>
            <a:r>
              <a:rPr lang="en-US" sz="1800" dirty="0">
                <a:solidFill>
                  <a:srgbClr val="22C55E"/>
                </a:solidFill>
                <a:latin typeface="Segoe UI" pitchFamily="34" charset="0"/>
                <a:ea typeface="Segoe UI" pitchFamily="34" charset="-122"/>
                <a:cs typeface="Segoe UI" pitchFamily="34" charset="-120"/>
              </a:rPr>
              <a:t>→</a:t>
            </a:r>
            <a:endParaRPr lang="en-US" sz="1800" dirty="0"/>
          </a:p>
        </p:txBody>
      </p:sp>
      <p:sp>
        <p:nvSpPr>
          <p:cNvPr id="26" name="Text 23"/>
          <p:cNvSpPr txBox="1"/>
          <p:nvPr/>
        </p:nvSpPr>
        <p:spPr>
          <a:xfrm>
            <a:off x="4572000" y="5349240"/>
            <a:ext cx="1920240" cy="777240"/>
          </a:xfrm>
          <a:prstGeom prst="rect">
            <a:avLst/>
          </a:prstGeom>
          <a:noFill/>
          <a:ln/>
        </p:spPr>
        <p:txBody>
          <a:bodyPr wrap="square" lIns="0" tIns="0" rIns="0" bIns="0" rtlCol="0" anchor="ctr"/>
          <a:lstStyle/>
          <a:p>
            <a:pPr indent="0" marL="0">
              <a:buNone/>
            </a:pPr>
            <a:r>
              <a:rPr lang="en-US" sz="1100" b="1" dirty="0">
                <a:solidFill>
                  <a:srgbClr val="22C55E"/>
                </a:solidFill>
                <a:latin typeface="Segoe UI" pitchFamily="34" charset="0"/>
                <a:ea typeface="Segoe UI" pitchFamily="34" charset="-122"/>
                <a:cs typeface="Segoe UI" pitchFamily="34" charset="-120"/>
              </a:rPr>
              <a:t>Supports station-level planning</a:t>
            </a:r>
            <a:endParaRPr lang="en-US" sz="1100" dirty="0"/>
          </a:p>
        </p:txBody>
      </p:sp>
      <p:sp>
        <p:nvSpPr>
          <p:cNvPr id="27" name="Shape 24"/>
          <p:cNvSpPr/>
          <p:nvPr/>
        </p:nvSpPr>
        <p:spPr>
          <a:xfrm>
            <a:off x="6766560" y="1325880"/>
            <a:ext cx="4983480" cy="2468880"/>
          </a:xfrm>
          <a:prstGeom prst="roundRect">
            <a:avLst>
              <a:gd name="adj" fmla="val 3704"/>
            </a:avLst>
          </a:prstGeom>
          <a:solidFill>
            <a:srgbClr val="0D1A2E"/>
          </a:solidFill>
          <a:ln w="12700">
            <a:solidFill>
              <a:srgbClr val="1C2F50"/>
            </a:solidFill>
            <a:prstDash val="solid"/>
          </a:ln>
        </p:spPr>
      </p:sp>
      <p:pic>
        <p:nvPicPr>
          <p:cNvPr id="28" name="Image 0" descr="/tmp/hour.png">    </p:cNvPr>
          <p:cNvPicPr>
            <a:picLocks noChangeAspect="1"/>
          </p:cNvPicPr>
          <p:nvPr/>
        </p:nvPicPr>
        <p:blipFill>
          <a:blip r:embed="rId1"/>
          <a:stretch>
            <a:fillRect/>
          </a:stretch>
        </p:blipFill>
        <p:spPr>
          <a:xfrm>
            <a:off x="6812280" y="1524338"/>
            <a:ext cx="4892040" cy="2071963"/>
          </a:xfrm>
          <a:prstGeom prst="rect">
            <a:avLst/>
          </a:prstGeom>
        </p:spPr>
      </p:pic>
      <p:sp>
        <p:nvSpPr>
          <p:cNvPr id="29" name="Shape 25"/>
          <p:cNvSpPr/>
          <p:nvPr/>
        </p:nvSpPr>
        <p:spPr>
          <a:xfrm>
            <a:off x="6766560" y="3931920"/>
            <a:ext cx="4983480" cy="2331720"/>
          </a:xfrm>
          <a:prstGeom prst="roundRect">
            <a:avLst>
              <a:gd name="adj" fmla="val 3922"/>
            </a:avLst>
          </a:prstGeom>
          <a:solidFill>
            <a:srgbClr val="0D1A2E"/>
          </a:solidFill>
          <a:ln w="12700">
            <a:solidFill>
              <a:srgbClr val="1C2F50"/>
            </a:solidFill>
            <a:prstDash val="solid"/>
          </a:ln>
        </p:spPr>
      </p:sp>
      <p:pic>
        <p:nvPicPr>
          <p:cNvPr id="30" name="Image 1" descr="/tmp/cityrow.png">    </p:cNvPr>
          <p:cNvPicPr>
            <a:picLocks noChangeAspect="1"/>
          </p:cNvPicPr>
          <p:nvPr/>
        </p:nvPicPr>
        <p:blipFill>
          <a:blip r:embed="rId2"/>
          <a:stretch>
            <a:fillRect/>
          </a:stretch>
        </p:blipFill>
        <p:spPr>
          <a:xfrm>
            <a:off x="6812280" y="4467139"/>
            <a:ext cx="4892040" cy="126128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C18"/>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sp>
      <p:sp>
        <p:nvSpPr>
          <p:cNvPr id="3" name="Text 1"/>
          <p:cNvSpPr txBox="1"/>
          <p:nvPr/>
        </p:nvSpPr>
        <p:spPr>
          <a:xfrm>
            <a:off x="457200" y="274320"/>
            <a:ext cx="9601200" cy="548640"/>
          </a:xfrm>
          <a:prstGeom prst="rect">
            <a:avLst/>
          </a:prstGeom>
          <a:noFill/>
          <a:ln/>
        </p:spPr>
        <p:txBody>
          <a:bodyPr wrap="square" lIns="0" tIns="0" rIns="0" bIns="0" rtlCol="0" anchor="ctr"/>
          <a:lstStyle/>
          <a:p>
            <a:pPr indent="0" marL="0">
              <a:buNone/>
            </a:pPr>
            <a:r>
              <a:rPr lang="en-US" sz="2800" b="1" dirty="0">
                <a:solidFill>
                  <a:srgbClr val="E9F2FF"/>
                </a:solidFill>
                <a:latin typeface="Segoe UI" pitchFamily="34" charset="0"/>
                <a:ea typeface="Segoe UI" pitchFamily="34" charset="-122"/>
                <a:cs typeface="Segoe UI" pitchFamily="34" charset="-120"/>
              </a:rPr>
              <a:t>Conclusion &amp; Future Scope</a:t>
            </a:r>
            <a:endParaRPr lang="en-US" sz="2800" dirty="0"/>
          </a:p>
        </p:txBody>
      </p:sp>
      <p:sp>
        <p:nvSpPr>
          <p:cNvPr id="4" name="Text 2"/>
          <p:cNvSpPr txBox="1"/>
          <p:nvPr/>
        </p:nvSpPr>
        <p:spPr>
          <a:xfrm>
            <a:off x="8503920" y="6446520"/>
            <a:ext cx="3291840" cy="274320"/>
          </a:xfrm>
          <a:prstGeom prst="rect">
            <a:avLst/>
          </a:prstGeom>
          <a:noFill/>
          <a:ln/>
        </p:spPr>
        <p:txBody>
          <a:bodyPr wrap="square" lIns="0" tIns="0" rIns="0" bIns="0" rtlCol="0" anchor="ctr"/>
          <a:lstStyle/>
          <a:p>
            <a:pPr algn="r" indent="0" marL="0">
              <a:buNone/>
            </a:pPr>
            <a:r>
              <a:rPr lang="en-US" sz="1000" dirty="0">
                <a:solidFill>
                  <a:srgbClr val="8FA4C6"/>
                </a:solidFill>
                <a:latin typeface="Segoe UI" pitchFamily="34" charset="0"/>
                <a:ea typeface="Segoe UI" pitchFamily="34" charset="-122"/>
                <a:cs typeface="Segoe UI" pitchFamily="34" charset="-120"/>
              </a:rPr>
              <a:t>EVCharge Intelligence  |  11 / 11</a:t>
            </a:r>
            <a:endParaRPr lang="en-US" sz="1000" dirty="0"/>
          </a:p>
        </p:txBody>
      </p:sp>
      <p:sp>
        <p:nvSpPr>
          <p:cNvPr id="6" name="Shape 3"/>
          <p:cNvSpPr/>
          <p:nvPr/>
        </p:nvSpPr>
        <p:spPr>
          <a:xfrm>
            <a:off x="457200" y="1097280"/>
            <a:ext cx="5577840" cy="3383280"/>
          </a:xfrm>
          <a:prstGeom prst="roundRect">
            <a:avLst>
              <a:gd name="adj" fmla="val 2703"/>
            </a:avLst>
          </a:prstGeom>
          <a:solidFill>
            <a:srgbClr val="0D1A2E"/>
          </a:solidFill>
          <a:ln w="12700">
            <a:solidFill>
              <a:srgbClr val="2DD4BF"/>
            </a:solidFill>
            <a:prstDash val="solid"/>
          </a:ln>
        </p:spPr>
      </p:sp>
      <p:sp>
        <p:nvSpPr>
          <p:cNvPr id="7" name="Text 4"/>
          <p:cNvSpPr txBox="1"/>
          <p:nvPr/>
        </p:nvSpPr>
        <p:spPr>
          <a:xfrm>
            <a:off x="640080" y="1188720"/>
            <a:ext cx="4572000" cy="274320"/>
          </a:xfrm>
          <a:prstGeom prst="rect">
            <a:avLst/>
          </a:prstGeom>
          <a:noFill/>
          <a:ln/>
        </p:spPr>
        <p:txBody>
          <a:bodyPr wrap="square" lIns="0" tIns="0" rIns="0" bIns="0" rtlCol="0" anchor="t"/>
          <a:lstStyle/>
          <a:p>
            <a:pPr indent="0" marL="0">
              <a:buNone/>
            </a:pPr>
            <a:r>
              <a:rPr lang="en-US" sz="1200" b="1" spc="200" kern="0" dirty="0">
                <a:solidFill>
                  <a:srgbClr val="2DD4BF"/>
                </a:solidFill>
                <a:latin typeface="Segoe UI" pitchFamily="34" charset="0"/>
                <a:ea typeface="Segoe UI" pitchFamily="34" charset="-122"/>
                <a:cs typeface="Segoe UI" pitchFamily="34" charset="-120"/>
              </a:rPr>
              <a:t>CONCLUSION</a:t>
            </a:r>
            <a:endParaRPr lang="en-US" sz="1200" dirty="0"/>
          </a:p>
        </p:txBody>
      </p:sp>
      <p:sp>
        <p:nvSpPr>
          <p:cNvPr id="8" name="Text 5"/>
          <p:cNvSpPr txBox="1"/>
          <p:nvPr/>
        </p:nvSpPr>
        <p:spPr>
          <a:xfrm>
            <a:off x="640080" y="1554480"/>
            <a:ext cx="521208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Charging demand prediction was implemented</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Congestion prediction was implemented</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Customer feedback was analyzed</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Results were integrated into Power BI</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The system supports data-driven EV charging decisions</a:t>
            </a:r>
            <a:endParaRPr lang="en-US" sz="1400" dirty="0"/>
          </a:p>
        </p:txBody>
      </p:sp>
      <p:sp>
        <p:nvSpPr>
          <p:cNvPr id="9" name="Shape 6"/>
          <p:cNvSpPr/>
          <p:nvPr/>
        </p:nvSpPr>
        <p:spPr>
          <a:xfrm>
            <a:off x="6172200" y="1097280"/>
            <a:ext cx="5577840" cy="3383280"/>
          </a:xfrm>
          <a:prstGeom prst="roundRect">
            <a:avLst>
              <a:gd name="adj" fmla="val 2703"/>
            </a:avLst>
          </a:prstGeom>
          <a:solidFill>
            <a:srgbClr val="0D1A2E"/>
          </a:solidFill>
          <a:ln w="12700">
            <a:solidFill>
              <a:srgbClr val="4F8CFF"/>
            </a:solidFill>
            <a:prstDash val="solid"/>
          </a:ln>
        </p:spPr>
      </p:sp>
      <p:sp>
        <p:nvSpPr>
          <p:cNvPr id="10" name="Text 7"/>
          <p:cNvSpPr txBox="1"/>
          <p:nvPr/>
        </p:nvSpPr>
        <p:spPr>
          <a:xfrm>
            <a:off x="6355080" y="1188720"/>
            <a:ext cx="4572000" cy="274320"/>
          </a:xfrm>
          <a:prstGeom prst="rect">
            <a:avLst/>
          </a:prstGeom>
          <a:noFill/>
          <a:ln/>
        </p:spPr>
        <p:txBody>
          <a:bodyPr wrap="square" lIns="0" tIns="0" rIns="0" bIns="0" rtlCol="0" anchor="t"/>
          <a:lstStyle/>
          <a:p>
            <a:pPr indent="0" marL="0">
              <a:buNone/>
            </a:pPr>
            <a:r>
              <a:rPr lang="en-US" sz="1200" b="1" spc="200" kern="0" dirty="0">
                <a:solidFill>
                  <a:srgbClr val="4F8CFF"/>
                </a:solidFill>
                <a:latin typeface="Segoe UI" pitchFamily="34" charset="0"/>
                <a:ea typeface="Segoe UI" pitchFamily="34" charset="-122"/>
                <a:cs typeface="Segoe UI" pitchFamily="34" charset="-120"/>
              </a:rPr>
              <a:t>FUTURE SCOPE</a:t>
            </a:r>
            <a:endParaRPr lang="en-US" sz="1200" dirty="0"/>
          </a:p>
        </p:txBody>
      </p:sp>
      <p:sp>
        <p:nvSpPr>
          <p:cNvPr id="11" name="Text 8"/>
          <p:cNvSpPr txBox="1"/>
          <p:nvPr/>
        </p:nvSpPr>
        <p:spPr>
          <a:xfrm>
            <a:off x="6355080" y="1554480"/>
            <a:ext cx="5212080" cy="28346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Real-time IoT data</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Live traffic / weather integration</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Real-time alerts</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Advanced / deep learning forecasting</a:t>
            </a:r>
            <a:endParaRPr lang="en-US" sz="1400" dirty="0"/>
          </a:p>
          <a:p>
            <a:pPr marL="342900" indent="-342900">
              <a:spcAft>
                <a:spcPts val="900"/>
              </a:spcAft>
              <a:buSzPct val="100000"/>
              <a:buChar char="•"/>
            </a:pPr>
            <a:r>
              <a:rPr lang="en-US" sz="1400" dirty="0">
                <a:solidFill>
                  <a:srgbClr val="E9F2FF"/>
                </a:solidFill>
                <a:latin typeface="Segoe UI" pitchFamily="34" charset="0"/>
                <a:ea typeface="Segoe UI" pitchFamily="34" charset="-122"/>
                <a:cs typeface="Segoe UI" pitchFamily="34" charset="-120"/>
              </a:rPr>
              <a:t>Web / mobile deployment</a:t>
            </a:r>
            <a:endParaRPr lang="en-US" sz="1400" dirty="0"/>
          </a:p>
        </p:txBody>
      </p:sp>
      <p:sp>
        <p:nvSpPr>
          <p:cNvPr id="12" name="Shape 9"/>
          <p:cNvSpPr/>
          <p:nvPr/>
        </p:nvSpPr>
        <p:spPr>
          <a:xfrm>
            <a:off x="457200" y="4754880"/>
            <a:ext cx="11292840" cy="1463040"/>
          </a:xfrm>
          <a:prstGeom prst="roundRect">
            <a:avLst>
              <a:gd name="adj" fmla="val 6250"/>
            </a:avLst>
          </a:prstGeom>
          <a:solidFill>
            <a:srgbClr val="0D1A2E"/>
          </a:solidFill>
          <a:ln w="12700">
            <a:solidFill>
              <a:srgbClr val="1C2F50"/>
            </a:solidFill>
            <a:prstDash val="solid"/>
          </a:ln>
        </p:spPr>
      </p:sp>
      <p:sp>
        <p:nvSpPr>
          <p:cNvPr id="13" name="Text 10"/>
          <p:cNvSpPr txBox="1"/>
          <p:nvPr/>
        </p:nvSpPr>
        <p:spPr>
          <a:xfrm>
            <a:off x="457200" y="4846320"/>
            <a:ext cx="11292840" cy="731520"/>
          </a:xfrm>
          <a:prstGeom prst="rect">
            <a:avLst/>
          </a:prstGeom>
          <a:noFill/>
          <a:ln/>
        </p:spPr>
        <p:txBody>
          <a:bodyPr wrap="square" lIns="0" tIns="0" rIns="0" bIns="0" rtlCol="0" anchor="t"/>
          <a:lstStyle/>
          <a:p>
            <a:pPr algn="ctr" indent="0" marL="0">
              <a:buNone/>
            </a:pPr>
            <a:r>
              <a:rPr lang="en-US" sz="3600" b="1" dirty="0">
                <a:solidFill>
                  <a:srgbClr val="2DD4BF"/>
                </a:solidFill>
                <a:latin typeface="Segoe UI" pitchFamily="34" charset="0"/>
                <a:ea typeface="Segoe UI" pitchFamily="34" charset="-122"/>
                <a:cs typeface="Segoe UI" pitchFamily="34" charset="-120"/>
              </a:rPr>
              <a:t>THANK YOU</a:t>
            </a:r>
            <a:endParaRPr lang="en-US" sz="3600" dirty="0"/>
          </a:p>
        </p:txBody>
      </p:sp>
      <p:sp>
        <p:nvSpPr>
          <p:cNvPr id="14" name="Text 11"/>
          <p:cNvSpPr txBox="1"/>
          <p:nvPr/>
        </p:nvSpPr>
        <p:spPr>
          <a:xfrm>
            <a:off x="457200" y="5577840"/>
            <a:ext cx="11292840" cy="365760"/>
          </a:xfrm>
          <a:prstGeom prst="rect">
            <a:avLst/>
          </a:prstGeom>
          <a:noFill/>
          <a:ln/>
        </p:spPr>
        <p:txBody>
          <a:bodyPr wrap="square" lIns="0" tIns="0" rIns="0" bIns="0" rtlCol="0" anchor="t"/>
          <a:lstStyle/>
          <a:p>
            <a:pPr algn="ctr" indent="0" marL="0">
              <a:buNone/>
            </a:pPr>
            <a:r>
              <a:rPr lang="en-US" sz="1600" dirty="0">
                <a:solidFill>
                  <a:srgbClr val="8FA4C6"/>
                </a:solidFill>
                <a:latin typeface="Segoe UI" pitchFamily="34" charset="0"/>
                <a:ea typeface="Segoe UI" pitchFamily="34" charset="-122"/>
                <a:cs typeface="Segoe U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EVCharge Intelligence</dc:title>
  <dc:subject>PptxGenJS Presentation</dc:subject>
  <dc:creator>B. Praneeth Reddy, Syed Afroz, Chaitanya Turangi</dc:creator>
  <cp:lastModifiedBy>B. Praneeth Reddy, Syed Afroz, Chaitanya Turangi</cp:lastModifiedBy>
  <cp:revision>1</cp:revision>
  <dcterms:created xsi:type="dcterms:W3CDTF">2026-10-06T13:43:35Z</dcterms:created>
  <dcterms:modified xsi:type="dcterms:W3CDTF">2026-10-06T13:43:35Z</dcterms:modified>
</cp:coreProperties>
</file>